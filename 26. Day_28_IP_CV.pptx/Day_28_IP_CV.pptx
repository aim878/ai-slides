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Calibri"/>
              </a:defRPr>
            </a:pPr>
            <a:r>
              <a:t>Image Processing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00D4FF"/>
                </a:solidFill>
                <a:latin typeface="Calibri"/>
              </a:defRPr>
            </a:pPr>
            <a:r>
              <a:t>&amp; The World of Computer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154680"/>
            <a:ext cx="393192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829E"/>
                </a:solidFill>
                <a:latin typeface="Calibri"/>
              </a:defRPr>
            </a:pPr>
            <a:r>
              <a:t>How computers see  •  Pixels &amp; color spaces  •  Image operations  •  Real-world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206240"/>
            <a:ext cx="210312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89120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Calibri"/>
              </a:defRPr>
            </a:pPr>
            <a: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091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Image Processing</a:t>
            </a:r>
            <a:br/>
            <a:r>
              <a:t>Fundamentals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760720"/>
            <a:ext cx="731520" cy="3200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0F1A"/>
                </a:solidFill>
              </a:defRPr>
            </a:pPr>
            <a:r>
              <a:t>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4206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4206240"/>
            <a:ext cx="210312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4389120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32"/>
                </a:solidFill>
                <a:latin typeface="Calibri"/>
              </a:defRPr>
            </a:pPr>
            <a:r>
              <a:t>DAY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47091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Edge Detection &amp;</a:t>
            </a:r>
            <a:br/>
            <a:r>
              <a:t>Feature Extraction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4206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4206240"/>
            <a:ext cx="210312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4389120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DE08E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47091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Video Analysis &amp;</a:t>
            </a:r>
            <a:br/>
            <a:r>
              <a:t>Object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206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4206240"/>
            <a:ext cx="210312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4389120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06AF0"/>
                </a:solidFill>
                <a:latin typeface="Calibri"/>
              </a:defRPr>
            </a:pPr>
            <a:r>
              <a:t>DAY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47091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Deep Learning</a:t>
            </a:r>
            <a:br/>
            <a:r>
              <a:t>for CV (YOLO)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4206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4206240"/>
            <a:ext cx="2103120" cy="50292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4389120"/>
            <a:ext cx="1883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5555"/>
                </a:solidFill>
                <a:latin typeface="Calibri"/>
              </a:defRPr>
            </a:pPr>
            <a:r>
              <a:t>DAY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4709160"/>
            <a:ext cx="18836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Deployment &amp;</a:t>
            </a:r>
            <a:br/>
            <a:r>
              <a:t>Project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is Computer Vision?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D6E5"/>
                </a:solidFill>
                <a:latin typeface="Calibri"/>
              </a:defRPr>
            </a:pPr>
            <a:r>
              <a:t>Teaching machines to interpret and understand visual information — images, videos, and live camera feeds.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74720" cy="29260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47472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11680" y="2194560"/>
            <a:ext cx="822960" cy="8229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900" b="1">
                <a:solidFill>
                  <a:srgbClr val="FFFFFF"/>
                </a:solidFill>
                <a:latin typeface="Calibri"/>
              </a:defRPr>
            </a:pPr>
            <a: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Image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Transform images: sharpen,</a:t>
            </a:r>
            <a:br/>
            <a:r>
              <a:t>filter, resize, denoise</a:t>
            </a:r>
            <a:br/>
            <a:br/>
            <a:r>
              <a:t>Input: Image</a:t>
            </a:r>
            <a:br/>
            <a:r>
              <a:t>Output: Better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011680"/>
            <a:ext cx="3474720" cy="29260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2011680"/>
            <a:ext cx="347472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19" y="2194560"/>
            <a:ext cx="822960" cy="8229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900" b="1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32"/>
                </a:solidFill>
                <a:latin typeface="Calibri"/>
              </a:defRPr>
            </a:pPr>
            <a:r>
              <a:t>Computer 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66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Understand images: detect</a:t>
            </a:r>
            <a:br/>
            <a:r>
              <a:t>objects, track motion, classify</a:t>
            </a:r>
            <a:br/>
            <a:br/>
            <a:r>
              <a:t>Input: Image</a:t>
            </a:r>
            <a:br/>
            <a:r>
              <a:t>Output: Meaning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474720" cy="29260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47472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09760" y="2194560"/>
            <a:ext cx="822960" cy="8229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900" b="1">
                <a:solidFill>
                  <a:srgbClr val="FFFFF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54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E08E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56616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Learn patterns from data:</a:t>
            </a:r>
            <a:br/>
            <a:r>
              <a:t>CNNs, YOLO, Transformers</a:t>
            </a:r>
            <a:br/>
            <a:br/>
            <a:r>
              <a:t>Input: Data</a:t>
            </a:r>
            <a:br/>
            <a:r>
              <a:t>Output: Predictions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12080"/>
            <a:ext cx="10698480" cy="118872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93D"/>
                </a:solidFill>
                <a:latin typeface="Calibri"/>
              </a:defRPr>
            </a:pPr>
            <a:r>
              <a:t>In Practice: All Three Work Together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15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6E5"/>
                </a:solidFill>
                <a:latin typeface="Calibri"/>
              </a:defRPr>
            </a:pPr>
            <a:r>
              <a:t>Image Processing cleans the data  →  Machine Learning finds patterns  →  Computer Vision delivers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Evolution of Computer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698480" cy="36576"/>
          </a:xfrm>
          <a:prstGeom prst="rect">
            <a:avLst/>
          </a:prstGeom>
          <a:solidFill>
            <a:srgbClr val="4A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2852928"/>
            <a:ext cx="182880" cy="1828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Calibri"/>
              </a:defRPr>
            </a:pPr>
            <a:r>
              <a:t>1966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46120"/>
            <a:ext cx="1737360" cy="192024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46120"/>
            <a:ext cx="173736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32"/>
                </a:solidFill>
                <a:latin typeface="Calibri"/>
              </a:defRPr>
            </a:pPr>
            <a:r>
              <a:t>MIT Summer</a:t>
            </a:r>
            <a:br/>
            <a:r>
              <a:t>Vision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First attempt to make</a:t>
            </a:r>
            <a:br/>
            <a:r>
              <a:t>computers describe scenes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39" y="2852928"/>
            <a:ext cx="182880" cy="1828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93D"/>
                </a:solidFill>
                <a:latin typeface="Calibri"/>
              </a:defRPr>
            </a:pPr>
            <a:r>
              <a:t>1970s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3246120"/>
            <a:ext cx="1737360" cy="192024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79" y="3246120"/>
            <a:ext cx="1737360" cy="5029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3429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93D"/>
                </a:solidFill>
                <a:latin typeface="Calibri"/>
              </a:defRPr>
            </a:pPr>
            <a:r>
              <a:t>Edge</a:t>
            </a:r>
            <a:br/>
            <a: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97763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Sobel, Canny algorithms</a:t>
            </a:r>
            <a:br/>
            <a:r>
              <a:t>find boundaries in images</a:t>
            </a:r>
          </a:p>
        </p:txBody>
      </p:sp>
      <p:sp>
        <p:nvSpPr>
          <p:cNvPr id="19" name="Oval 18"/>
          <p:cNvSpPr/>
          <p:nvPr/>
        </p:nvSpPr>
        <p:spPr>
          <a:xfrm>
            <a:off x="5166360" y="2852928"/>
            <a:ext cx="182880" cy="1828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2001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246120"/>
            <a:ext cx="1737360" cy="192024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246120"/>
            <a:ext cx="173736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429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Calibri"/>
              </a:defRPr>
            </a:pPr>
            <a:r>
              <a:t>Viola-Jones</a:t>
            </a:r>
            <a:br/>
            <a:r>
              <a:t>Face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7763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First real-time face</a:t>
            </a:r>
            <a:br/>
            <a:r>
              <a:t>detector in cameras</a:t>
            </a:r>
          </a:p>
        </p:txBody>
      </p:sp>
      <p:sp>
        <p:nvSpPr>
          <p:cNvPr id="25" name="Oval 24"/>
          <p:cNvSpPr/>
          <p:nvPr/>
        </p:nvSpPr>
        <p:spPr>
          <a:xfrm>
            <a:off x="7040880" y="2852928"/>
            <a:ext cx="182880" cy="18288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E08E"/>
                </a:solidFill>
                <a:latin typeface="Calibri"/>
              </a:defRPr>
            </a:pPr>
            <a:r>
              <a:t>2012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246120"/>
            <a:ext cx="1737360" cy="192024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246120"/>
            <a:ext cx="173736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3429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DE08E"/>
                </a:solidFill>
                <a:latin typeface="Calibri"/>
              </a:defRPr>
            </a:pPr>
            <a:r>
              <a:t>AlexNet /</a:t>
            </a:r>
            <a:br/>
            <a:r>
              <a:t>Deep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397763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CNN wins ImageNet by</a:t>
            </a:r>
            <a:br/>
            <a:r>
              <a:t>huge margin — revolution</a:t>
            </a:r>
          </a:p>
        </p:txBody>
      </p:sp>
      <p:sp>
        <p:nvSpPr>
          <p:cNvPr id="31" name="Oval 30"/>
          <p:cNvSpPr/>
          <p:nvPr/>
        </p:nvSpPr>
        <p:spPr>
          <a:xfrm>
            <a:off x="8915400" y="2852928"/>
            <a:ext cx="182880" cy="18288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6AF0"/>
                </a:solidFill>
                <a:latin typeface="Calibri"/>
              </a:defRPr>
            </a:pPr>
            <a:r>
              <a:t>2015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3246120"/>
            <a:ext cx="1737360" cy="192024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3246120"/>
            <a:ext cx="173736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429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06AF0"/>
                </a:solidFill>
                <a:latin typeface="Calibri"/>
              </a:defRPr>
            </a:pPr>
            <a:r>
              <a:t>YOLO: Real-time</a:t>
            </a:r>
            <a:br/>
            <a:r>
              <a:t>Detection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7763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Single-pass object detection</a:t>
            </a:r>
            <a:br/>
            <a:r>
              <a:t>at 45+ frames per second</a:t>
            </a:r>
          </a:p>
        </p:txBody>
      </p:sp>
      <p:sp>
        <p:nvSpPr>
          <p:cNvPr id="37" name="Oval 36"/>
          <p:cNvSpPr/>
          <p:nvPr/>
        </p:nvSpPr>
        <p:spPr>
          <a:xfrm>
            <a:off x="10789920" y="2852928"/>
            <a:ext cx="182880" cy="182880"/>
          </a:xfrm>
          <a:prstGeom prst="ellipse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6AB0"/>
                </a:solidFill>
                <a:latin typeface="Calibri"/>
              </a:defRPr>
            </a:pPr>
            <a:r>
              <a:t>2020s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5560" y="3246120"/>
            <a:ext cx="1737360" cy="192024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95560" y="3246120"/>
            <a:ext cx="1737360" cy="50292"/>
          </a:xfrm>
          <a:prstGeom prst="rect">
            <a:avLst/>
          </a:prstGeom>
          <a:solidFill>
            <a:srgbClr val="F0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7000" y="3429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6AB0"/>
                </a:solidFill>
                <a:latin typeface="Calibri"/>
              </a:defRPr>
            </a:pPr>
            <a:r>
              <a:t>Foundation</a:t>
            </a:r>
            <a:br/>
            <a:r>
              <a:t>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3977639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ViT, CLIP, SAM, GPT-4V</a:t>
            </a:r>
            <a:br/>
            <a:r>
              <a:t>Near-human vision ability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93D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Calibri"/>
              </a:defRPr>
            </a:pPr>
            <a:r>
              <a:t>Before 2012, CV was hand-crafted rules. After 2012, deep learning made machines truly learn to see. The field is now a $20+ billion industry.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How Computers See: Pixels &amp;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829E"/>
                </a:solidFill>
                <a:latin typeface="Calibri"/>
              </a:defRPr>
            </a:pPr>
            <a:r>
              <a:t>To us, a photo is a scene. To a computer, it's a giant grid of numbers.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301752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Calibri"/>
              </a:defRPr>
            </a:pPr>
            <a:r>
              <a:t>Grayscale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0829E"/>
                </a:solidFill>
                <a:latin typeface="Calibri"/>
              </a:defRPr>
            </a:pPr>
            <a:r>
              <a:t>Each pixel = 1 number (0–255)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6E5"/>
                </a:solidFill>
                <a:latin typeface="Calibri"/>
              </a:defRPr>
            </a:pPr>
            <a:r>
              <a:t>0 = Black        255 = White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00400"/>
            <a:ext cx="640080" cy="365760"/>
          </a:xfrm>
          <a:prstGeom prst="rect">
            <a:avLst/>
          </a:prstGeom>
          <a:solidFill>
            <a:srgbClr val="000000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3200400"/>
            <a:ext cx="640080" cy="365760"/>
          </a:xfrm>
          <a:prstGeom prst="rect">
            <a:avLst/>
          </a:prstGeom>
          <a:solidFill>
            <a:srgbClr val="323232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200400"/>
            <a:ext cx="640080" cy="365760"/>
          </a:xfrm>
          <a:prstGeom prst="rect">
            <a:avLst/>
          </a:prstGeom>
          <a:solidFill>
            <a:srgbClr val="646464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3200400"/>
            <a:ext cx="640080" cy="365760"/>
          </a:xfrm>
          <a:prstGeom prst="rect">
            <a:avLst/>
          </a:prstGeom>
          <a:solidFill>
            <a:srgbClr val="969696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11880"/>
            <a:ext cx="640080" cy="365760"/>
          </a:xfrm>
          <a:prstGeom prst="rect">
            <a:avLst/>
          </a:prstGeom>
          <a:solidFill>
            <a:srgbClr val="323232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3611880"/>
            <a:ext cx="640080" cy="365760"/>
          </a:xfrm>
          <a:prstGeom prst="rect">
            <a:avLst/>
          </a:prstGeom>
          <a:solidFill>
            <a:srgbClr val="646464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611880"/>
            <a:ext cx="640080" cy="365760"/>
          </a:xfrm>
          <a:prstGeom prst="rect">
            <a:avLst/>
          </a:prstGeom>
          <a:solidFill>
            <a:srgbClr val="969696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3611880"/>
            <a:ext cx="640080" cy="365760"/>
          </a:xfrm>
          <a:prstGeom prst="rect">
            <a:avLst/>
          </a:prstGeom>
          <a:solidFill>
            <a:srgbClr val="C8C8C8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657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023360"/>
            <a:ext cx="640080" cy="365760"/>
          </a:xfrm>
          <a:prstGeom prst="rect">
            <a:avLst/>
          </a:prstGeom>
          <a:solidFill>
            <a:srgbClr val="646464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4023360"/>
            <a:ext cx="640080" cy="365760"/>
          </a:xfrm>
          <a:prstGeom prst="rect">
            <a:avLst/>
          </a:prstGeom>
          <a:solidFill>
            <a:srgbClr val="969696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74519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4023360"/>
            <a:ext cx="640080" cy="365760"/>
          </a:xfrm>
          <a:prstGeom prst="rect">
            <a:avLst/>
          </a:prstGeom>
          <a:solidFill>
            <a:srgbClr val="C8C8C8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4023360"/>
            <a:ext cx="64008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250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4434840"/>
            <a:ext cx="640080" cy="365760"/>
          </a:xfrm>
          <a:prstGeom prst="rect">
            <a:avLst/>
          </a:prstGeom>
          <a:solidFill>
            <a:srgbClr val="969696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44805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080" y="4434840"/>
            <a:ext cx="640080" cy="365760"/>
          </a:xfrm>
          <a:prstGeom prst="rect">
            <a:avLst/>
          </a:prstGeom>
          <a:solidFill>
            <a:srgbClr val="C8C8C8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44805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4434840"/>
            <a:ext cx="640080" cy="365760"/>
          </a:xfrm>
          <a:prstGeom prst="rect">
            <a:avLst/>
          </a:prstGeom>
          <a:solidFill>
            <a:srgbClr val="FAFAFA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44805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250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4434840"/>
            <a:ext cx="6400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44805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0F1A"/>
                </a:solidFill>
                <a:latin typeface="Calibri"/>
              </a:defRPr>
            </a:pPr>
            <a:r>
              <a:t>255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1828800"/>
            <a:ext cx="5212080" cy="301752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32"/>
                </a:solidFill>
                <a:latin typeface="Calibri"/>
              </a:defRPr>
            </a:pPr>
            <a:r>
              <a:t>Color Image (RGB)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70829E"/>
                </a:solidFill>
                <a:latin typeface="Calibri"/>
              </a:defRPr>
            </a:pPr>
            <a:r>
              <a:t>Each pixel = 3 numbers (R, G, 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75120" y="2788920"/>
            <a:ext cx="411480" cy="36576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78040" y="2834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Red  (255, 0, 0)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2788920"/>
            <a:ext cx="411480" cy="365760"/>
          </a:xfrm>
          <a:prstGeom prst="round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0" y="2834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Green  (0, 255, 0)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75120" y="3291839"/>
            <a:ext cx="411480" cy="365760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78040" y="3337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Blue  (0, 0, 255)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98280" y="3291839"/>
            <a:ext cx="411480" cy="36576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3337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Yellow  (255, 255, 0)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75120" y="3794760"/>
            <a:ext cx="411480" cy="36576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Orange  (255, 165, 0)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80" y="3794760"/>
            <a:ext cx="411480" cy="365760"/>
          </a:xfrm>
          <a:prstGeom prst="roundRect">
            <a:avLst/>
          </a:prstGeom>
          <a:solidFill>
            <a:srgbClr val="8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Purple  (128, 0, 255)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75120" y="4297680"/>
            <a:ext cx="4114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7804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White  (255, 255, 255)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98280" y="4297680"/>
            <a:ext cx="411480" cy="3657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Black  (0, 0, 0)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5120640"/>
            <a:ext cx="10881360" cy="1371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Image = 3D Array in Memory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6E5"/>
                </a:solidFill>
                <a:latin typeface="Calibri"/>
              </a:defRPr>
            </a:pPr>
            <a:r>
              <a:t>A 1080p color image has shape (1080, 720, 3) = Height × Width × Channels (R,G,B).   That's over 6 million numbers.  For video at 30 fps, that's 186 million numbers per second.   This is why efficient processing matters!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Color Spaces — Different Lenses for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97480" cy="3657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748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463040"/>
            <a:ext cx="777240" cy="7772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Calibri"/>
              </a:defRPr>
            </a:pPr>
            <a:r>
              <a:t>RGB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Red, Green, 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How screens display color.</a:t>
            </a:r>
            <a:br/>
            <a:r>
              <a:t>3 channels, 0–255 each.</a:t>
            </a:r>
            <a:br/>
            <a:r>
              <a:t>16.7 million possible colors.</a:t>
            </a:r>
            <a:br/>
            <a:br/>
            <a:r>
              <a:t>Best for: Display, general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80160"/>
            <a:ext cx="2697480" cy="3657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80160"/>
            <a:ext cx="2697480" cy="50292"/>
          </a:xfrm>
          <a:prstGeom prst="rect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1960" y="1463040"/>
            <a:ext cx="777240" cy="777240"/>
          </a:xfrm>
          <a:prstGeom prst="ellipse">
            <a:avLst/>
          </a:prstGeom>
          <a:solidFill>
            <a:srgbClr val="708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0829E"/>
                </a:solidFill>
                <a:latin typeface="Calibri"/>
              </a:defRPr>
            </a:pPr>
            <a:r>
              <a:t>Grayscale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Single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01752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One value per pixel (0–255).</a:t>
            </a:r>
            <a:br/>
            <a:r>
              <a:t>3× less data than RGB.</a:t>
            </a:r>
            <a:br/>
            <a:r>
              <a:t>Edges are intensity changes.</a:t>
            </a:r>
            <a:br/>
            <a:br/>
            <a:r>
              <a:t>Best for: Edge detection, speed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80160"/>
            <a:ext cx="2697480" cy="3657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269748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0" y="1463040"/>
            <a:ext cx="777240" cy="77724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DE08E"/>
                </a:solidFill>
                <a:latin typeface="Calibri"/>
              </a:defRPr>
            </a:pPr>
            <a:r>
              <a:t>HSV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Hue, Saturation,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Separates color type from</a:t>
            </a:r>
            <a:br/>
            <a:r>
              <a:t>brightness. Robust to lighting.</a:t>
            </a:r>
            <a:br/>
            <a:r>
              <a:t>Hue = color wheel position.</a:t>
            </a:r>
            <a:br/>
            <a:br/>
            <a:r>
              <a:t>Best for: Color-based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280160"/>
            <a:ext cx="2697480" cy="3657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1280160"/>
            <a:ext cx="269748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12680" y="1463040"/>
            <a:ext cx="777240" cy="77724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06AF0"/>
                </a:solidFill>
                <a:latin typeface="Calibri"/>
              </a:defRPr>
            </a:pPr>
            <a:r>
              <a:t>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6974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Lightness, A,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17520"/>
            <a:ext cx="2423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Perceptually uniform — equal</a:t>
            </a:r>
            <a:br/>
            <a:r>
              <a:t>numeric change = equal visual</a:t>
            </a:r>
            <a:br/>
            <a:r>
              <a:t>change to human eyes.</a:t>
            </a:r>
            <a:br/>
            <a:br/>
            <a:r>
              <a:t>Best for: Color correction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212080"/>
            <a:ext cx="10881360" cy="128016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E08E"/>
                </a:solidFill>
                <a:latin typeface="Calibri"/>
              </a:defRPr>
            </a:pPr>
            <a:r>
              <a:t>Why HSV Matters for CV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Calibri"/>
              </a:defRPr>
            </a:pPr>
            <a:r>
              <a:t>Problem: Detecting "red" in RGB is hard — (255,0,0), (150,20,20), (255,100,50) are all "red" but very different numerically.</a:t>
            </a:r>
            <a:br/>
            <a:r>
              <a:t>Solution: In HSV, red is simply a range of Hue values, regardless of brightness. One filter catches all reds.  Convert with:  cv2.cvtColor(image, cv2.COLOR_BGR2HSV)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Essential Image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20440" cy="22860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2044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463039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Read &amp; 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cv2.imread('img.jpg')</a:t>
            </a:r>
            <a:br/>
            <a:r>
              <a:t>cv2.imshow('Win', img)</a:t>
            </a:r>
            <a:br/>
            <a:r>
              <a:t>cv2.imwrite('out.jpg', img)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80160"/>
            <a:ext cx="3520440" cy="22860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80160"/>
            <a:ext cx="352044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1463039"/>
            <a:ext cx="594360" cy="5943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32"/>
                </a:solidFill>
                <a:latin typeface="Calibri"/>
              </a:defRPr>
            </a:pPr>
            <a:r>
              <a:t>Resize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cv2.resize(img, (640,480))</a:t>
            </a:r>
            <a:br/>
            <a:r>
              <a:t>INTER_AREA for shrink</a:t>
            </a:r>
            <a:br/>
            <a:r>
              <a:t>INTER_CUBIC for enlarge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520440" cy="22860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2044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1463039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508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E08E"/>
                </a:solidFill>
                <a:latin typeface="Calibri"/>
              </a:defRPr>
            </a:pPr>
            <a:r>
              <a:t>Crop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0312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roi = img[y1:y2, x1:x2]</a:t>
            </a:r>
            <a:br/>
            <a:r>
              <a:t>Simple array slicing!</a:t>
            </a:r>
            <a:br/>
            <a:r>
              <a:t>No function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79"/>
            <a:ext cx="3520440" cy="22860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40479"/>
            <a:ext cx="352044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023359"/>
            <a:ext cx="594360" cy="59436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690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06AF0"/>
                </a:solidFill>
                <a:latin typeface="Calibri"/>
              </a:defRPr>
            </a:pPr>
            <a:r>
              <a:t>Rotate &amp; Flip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6344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cv2.flip(img, 1) horizontal</a:t>
            </a:r>
            <a:br/>
            <a:r>
              <a:t>cv2.flip(img, 0) vertical</a:t>
            </a:r>
            <a:br/>
            <a:r>
              <a:t>getRotationMatrix2D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840479"/>
            <a:ext cx="3520440" cy="22860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840479"/>
            <a:ext cx="3520440" cy="50292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26280" y="4023359"/>
            <a:ext cx="594360" cy="5943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0690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5555"/>
                </a:solidFill>
                <a:latin typeface="Calibri"/>
              </a:defRPr>
            </a:pPr>
            <a:r>
              <a:t>Draw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66344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cv2.rectangle() for boxes</a:t>
            </a:r>
            <a:br/>
            <a:r>
              <a:t>cv2.circle() for points</a:t>
            </a:r>
            <a:br/>
            <a:r>
              <a:t>cv2.putText() for labels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40479"/>
            <a:ext cx="3520440" cy="22860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840479"/>
            <a:ext cx="3520440" cy="5029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40" y="4023359"/>
            <a:ext cx="594360" cy="59436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0690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Brightness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66344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cv2.add(img, 50) brighter</a:t>
            </a:r>
            <a:br/>
            <a:r>
              <a:t>cv2.subtract(img, 50) darker</a:t>
            </a:r>
            <a:br/>
            <a:r>
              <a:t>addWeighted() for blending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Image Filtering — Cleaning &amp; Enhancing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829E"/>
                </a:solidFill>
                <a:latin typeface="Calibri"/>
              </a:defRPr>
            </a:pPr>
            <a:r>
              <a:t>Filtering applies a small matrix (kernel) to every pixel using its neighbors. This is the same convolution operation used in CNNs.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697480" cy="3657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69748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Gaussian Blur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Smooths with bell-curve kernel.</a:t>
            </a:r>
            <a:br/>
            <a:r>
              <a:t>Closer pixels = more influence.</a:t>
            </a:r>
            <a:br/>
            <a:r>
              <a:t>Removes fine 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2514600" cy="50292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cv2.GaussianBlur(img, (5,5),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Most common preprocessing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920240"/>
            <a:ext cx="2697480" cy="3657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920240"/>
            <a:ext cx="269748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E08E"/>
                </a:solidFill>
                <a:latin typeface="Calibri"/>
              </a:defRPr>
            </a:pPr>
            <a:r>
              <a:t>Median Blur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5146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Replaces pixel with median of</a:t>
            </a:r>
            <a:br/>
            <a:r>
              <a:t>neighbors. Excellent against</a:t>
            </a:r>
            <a:br/>
            <a:r>
              <a:t>salt-and-pepper noise.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749039"/>
            <a:ext cx="2514600" cy="50292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cv2.medianBlur(img, 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343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Best for impulse noise removal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920240"/>
            <a:ext cx="2697480" cy="3657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269748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32"/>
                </a:solidFill>
                <a:latin typeface="Calibri"/>
              </a:defRPr>
            </a:pPr>
            <a:r>
              <a:t>Sharpening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146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Enhances edges and fine details.</a:t>
            </a:r>
            <a:br/>
            <a:r>
              <a:t>Custom kernel emphasizes</a:t>
            </a:r>
            <a:br/>
            <a:r>
              <a:t>center pixel vs neighbors.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3749039"/>
            <a:ext cx="2514600" cy="50292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cv2.filter2D(img, -1, kernel)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343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Makes features easier to detect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920240"/>
            <a:ext cx="2697480" cy="365760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920240"/>
            <a:ext cx="269748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06AF0"/>
                </a:solidFill>
                <a:latin typeface="Calibri"/>
              </a:defRPr>
            </a:pPr>
            <a:r>
              <a:t>Denoising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5146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Advanced noise removal using</a:t>
            </a:r>
            <a:br/>
            <a:r>
              <a:t>non-local means algorithm.</a:t>
            </a:r>
            <a:br/>
            <a:r>
              <a:t>Slow but very effective.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19" y="3749039"/>
            <a:ext cx="2514600" cy="50292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59" y="3794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4FF"/>
                </a:solidFill>
                <a:latin typeface="Calibri"/>
              </a:defRPr>
            </a:pPr>
            <a:r>
              <a:t>cv2.fastNlMeansDenoising(img)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343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29E"/>
                </a:solidFill>
                <a:latin typeface="Calibri"/>
              </a:defRPr>
            </a:pPr>
            <a:r>
              <a:t>Best quality noise removal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52160"/>
            <a:ext cx="10881360" cy="73152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Calibri"/>
              </a:defRPr>
            </a:pPr>
            <a:r>
              <a:t>Rule of Thumb:  Always blur before edge detection.  Always denoise before classification.  Preprocessing quality directly affects model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Computer Vision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829E"/>
                </a:solidFill>
                <a:latin typeface="Calibri"/>
              </a:defRPr>
            </a:pPr>
            <a:r>
              <a:t>A $20+ billion industry transforming every sector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19456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6616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105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X-ray/CT analysis, tumor</a:t>
            </a:r>
            <a:br/>
            <a:r>
              <a:t>detection, retinal scans,</a:t>
            </a:r>
            <a:br/>
            <a:r>
              <a:t>cell counting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27% of CV spending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566160" cy="219456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56616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60" y="1783080"/>
            <a:ext cx="640080" cy="64008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8105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Calibri"/>
              </a:defRPr>
            </a:pPr>
            <a:r>
              <a:t>Autonomous</a:t>
            </a:r>
            <a:br/>
            <a:r>
              <a:t>Vehicles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Object detection, lane</a:t>
            </a:r>
            <a:br/>
            <a:r>
              <a:t>keeping, pedestrian safety,</a:t>
            </a:r>
            <a:br/>
            <a:r>
              <a:t>traffic sign reading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Life-critical decisions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3566160" cy="219456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56616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8105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DE08E"/>
                </a:solidFill>
                <a:latin typeface="Calibri"/>
              </a:defRPr>
            </a:pPr>
            <a:r>
              <a:t>Manufacturing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23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Defect inspection, quality</a:t>
            </a:r>
            <a:br/>
            <a:r>
              <a:t>control, assembly verify,</a:t>
            </a:r>
            <a:br/>
            <a:r>
              <a:t>barcode/QR scanning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35% of CV spending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3566160" cy="219456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3566160" cy="5029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4251960"/>
            <a:ext cx="640080" cy="6400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2793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93D"/>
                </a:solidFill>
                <a:latin typeface="Calibri"/>
              </a:defRPr>
            </a:pPr>
            <a:r>
              <a:t>Retail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Cashierless stores, visual</a:t>
            </a:r>
            <a:br/>
            <a:r>
              <a:t>product search, shelf</a:t>
            </a:r>
            <a:br/>
            <a:r>
              <a:t>monitoring, foot traffic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Fastest growing sector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114800"/>
            <a:ext cx="3566160" cy="219456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114800"/>
            <a:ext cx="356616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480560" y="4251960"/>
            <a:ext cx="640080" cy="64008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2793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06AF0"/>
                </a:solidFill>
                <a:latin typeface="Calibri"/>
              </a:defRPr>
            </a:pPr>
            <a:r>
              <a:t>Agriculture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892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Crop health monitoring,</a:t>
            </a:r>
            <a:br/>
            <a:r>
              <a:t>disease detection, fruit</a:t>
            </a:r>
            <a:br/>
            <a:r>
              <a:t>picking robots, weed 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Addressing labor shortage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114800"/>
            <a:ext cx="3566160" cy="219456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114800"/>
            <a:ext cx="3566160" cy="50292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21040" y="4251960"/>
            <a:ext cx="640080" cy="64008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27939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5555"/>
                </a:solidFill>
                <a:latin typeface="Calibri"/>
              </a:defRPr>
            </a:pPr>
            <a:r>
              <a:t>Aviation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892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Turnaround monitoring,</a:t>
            </a:r>
            <a:br/>
            <a:r>
              <a:t>runway FOD detection,</a:t>
            </a:r>
            <a:br/>
            <a:r>
              <a:t>passenger flow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829E"/>
                </a:solidFill>
                <a:latin typeface="Calibri"/>
              </a:defRPr>
            </a:pPr>
            <a:r>
              <a:t>Our project domain!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Core Tasks of Computer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0829E"/>
                </a:solidFill>
                <a:latin typeface="Calibri"/>
              </a:defRPr>
            </a:pPr>
            <a:r>
              <a:t>Every CV application is built from these fundamental building blocks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3566160" cy="22402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6616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 is this?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68880"/>
            <a:ext cx="3291840" cy="36576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alibri"/>
              </a:defRPr>
            </a:pPr>
            <a:r>
              <a:t>"This image is a cat"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One label per image.</a:t>
            </a:r>
            <a:br/>
            <a:r>
              <a:t>The simplest CV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45920"/>
            <a:ext cx="3566160" cy="22402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645920"/>
            <a:ext cx="356616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10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32"/>
                </a:solidFill>
                <a:latin typeface="Calibri"/>
              </a:defRPr>
            </a:pPr>
            <a:r>
              <a:t>Object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 &amp; Where?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468880"/>
            <a:ext cx="3291840" cy="36576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alibri"/>
              </a:defRPr>
            </a:pPr>
            <a:r>
              <a:t>"Cat at (x1,y1,x2,y2)"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Bounding boxes + labels.</a:t>
            </a:r>
            <a:br/>
            <a:r>
              <a:t>Multiple objects per image.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645920"/>
            <a:ext cx="3566160" cy="22402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645920"/>
            <a:ext cx="356616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810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E08E"/>
                </a:solidFill>
                <a:latin typeface="Calibri"/>
              </a:defRPr>
            </a:pPr>
            <a:r>
              <a:t>Segmentation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48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Every pixel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468880"/>
            <a:ext cx="3291840" cy="36576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514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alibri"/>
              </a:defRPr>
            </a:pPr>
            <a:r>
              <a:t>Pixel-level labeling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Semantic: label all pixels.</a:t>
            </a:r>
            <a:br/>
            <a:r>
              <a:t>Instance: separate objects.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3566160" cy="22402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356616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06AF0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Follow over 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937760"/>
            <a:ext cx="3291840" cy="36576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alibri"/>
              </a:defRPr>
            </a:pPr>
            <a:r>
              <a:t>Object ID across frames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Links detections in video.</a:t>
            </a:r>
            <a:br/>
            <a:r>
              <a:t>Handles occlusion.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114800"/>
            <a:ext cx="3566160" cy="22402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4114800"/>
            <a:ext cx="3566160" cy="50292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5555"/>
                </a:solidFill>
                <a:latin typeface="Calibri"/>
              </a:defRPr>
            </a:pPr>
            <a:r>
              <a:t>Action Recognition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What's happening?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4937760"/>
            <a:ext cx="3291840" cy="36576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alibri"/>
              </a:defRPr>
            </a:pPr>
            <a:r>
              <a:t>"Person is running"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Classifies activities.</a:t>
            </a:r>
            <a:br/>
            <a:r>
              <a:t>Needs temporal context.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114800"/>
            <a:ext cx="3566160" cy="22402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4114800"/>
            <a:ext cx="3566160" cy="5029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93D"/>
                </a:solidFill>
                <a:latin typeface="Calibri"/>
              </a:defRPr>
            </a:pPr>
            <a:r>
              <a:t>Pose Estimation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617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Body structure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4937760"/>
            <a:ext cx="3291840" cy="36576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4983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FF"/>
                </a:solidFill>
                <a:latin typeface="Calibri"/>
              </a:defRPr>
            </a:pPr>
            <a:r>
              <a:t>Joint positions (x,y)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394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Skeleton detection.</a:t>
            </a:r>
            <a:br/>
            <a:r>
              <a:t>Human pose &amp; gestures.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Final Project: Airplane Turnaround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D6E5"/>
                </a:solidFill>
                <a:latin typeface="Calibri"/>
              </a:defRPr>
            </a:pPr>
            <a:r>
              <a:t>Build a CV system that analyzes airport gate video to calculate aircraft turnaround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103120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05740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432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Calibri"/>
              </a:defRPr>
            </a:pPr>
            <a:r>
              <a:t>Aircraft</a:t>
            </a:r>
            <a:br/>
            <a:r>
              <a:t>Arrives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004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In-Block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20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920240"/>
            <a:ext cx="2103120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9000" y="2057400"/>
            <a:ext cx="594360" cy="59436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7432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32"/>
                </a:solidFill>
                <a:latin typeface="Calibri"/>
              </a:defRPr>
            </a:pPr>
            <a:r>
              <a:t>Equipment</a:t>
            </a:r>
            <a:br/>
            <a:r>
              <a:t>Approaches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2004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GSE Start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20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920240"/>
            <a:ext cx="2103120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0" y="2057400"/>
            <a:ext cx="594360" cy="59436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7432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DE08E"/>
                </a:solidFill>
                <a:latin typeface="Calibri"/>
              </a:defRPr>
            </a:pPr>
            <a:r>
              <a:t>Ground</a:t>
            </a:r>
            <a:br/>
            <a:r>
              <a:t>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32004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Fuel, Board,</a:t>
            </a:r>
            <a:br/>
            <a:r>
              <a:t>Baggage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920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920240"/>
            <a:ext cx="2103120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1000" y="2057400"/>
            <a:ext cx="594360" cy="59436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7432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6AF0"/>
                </a:solidFill>
                <a:latin typeface="Calibri"/>
              </a:defRPr>
            </a:pPr>
            <a:r>
              <a:t>Equipment</a:t>
            </a:r>
            <a:br/>
            <a:r>
              <a:t>Clears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32004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GSE 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1920240"/>
            <a:ext cx="2103120" cy="2011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920240"/>
            <a:ext cx="2103120" cy="50292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87000" y="2057400"/>
            <a:ext cx="594360" cy="59436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27432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5555"/>
                </a:solidFill>
                <a:latin typeface="Calibri"/>
              </a:defRPr>
            </a:pPr>
            <a:r>
              <a:t>Aircraft</a:t>
            </a:r>
            <a:br/>
            <a:r>
              <a:t>Departs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3200400"/>
            <a:ext cx="18836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Off-Block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4160520"/>
            <a:ext cx="7589520" cy="64008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2062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93D"/>
                </a:solidFill>
                <a:latin typeface="Calibri"/>
              </a:defRPr>
            </a:pPr>
            <a:r>
              <a:t>Turnaround Time  =  Off-Block Timestamp  −  In-Block Timestamp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029200"/>
            <a:ext cx="5394960" cy="146304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5555"/>
                </a:solidFill>
                <a:latin typeface="Calibri"/>
              </a:defRPr>
            </a:pPr>
            <a:r>
              <a:t>Your System Must: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44068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555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544068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Detect the aircraft and ground equipment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573328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555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73328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Identify arrival and departure events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" y="602589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555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6025896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Calculate total turnaround 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" y="631850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5555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6318504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Output a summary report with timestamps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5029200"/>
            <a:ext cx="5212080" cy="146304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DE08E"/>
                </a:solidFill>
                <a:latin typeface="Calibri"/>
              </a:defRPr>
            </a:pPr>
            <a:r>
              <a:t>Real-World Impact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4864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Amsterdam Schiphol deployed "Deep Turnaround"</a:t>
            </a:r>
            <a:br/>
            <a:r>
              <a:t>using AI cameras for real-time gate monitoring.</a:t>
            </a:r>
            <a:br/>
            <a:r>
              <a:t>It improved on-time departures and reduced delays</a:t>
            </a:r>
            <a:br/>
            <a:r>
              <a:t>across the entire airport network.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685800" cy="6858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Day 1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7320" y="960120"/>
            <a:ext cx="3200400" cy="5029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881360" cy="868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54864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28016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  <a:latin typeface="Calibri"/>
              </a:defRPr>
            </a:pPr>
            <a:r>
              <a:t>Images are grids of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54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Calibri"/>
              </a:defRPr>
            </a:pPr>
            <a:r>
              <a:t>Grayscale = 2D matrix (H×W), Color = 3D array (H×W×3). Understanding this is understanding how computers "see."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10881360" cy="868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54864" cy="50292"/>
          </a:xfrm>
          <a:prstGeom prst="rect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3D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DE08E"/>
                </a:solidFill>
                <a:latin typeface="Calibri"/>
              </a:defRPr>
            </a:pPr>
            <a:r>
              <a:t>Color spaces are your toolkit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60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Calibri"/>
              </a:defRPr>
            </a:pPr>
            <a:r>
              <a:t>RGB for display, HSV for color detection, Grayscale for speed. Choose the right lens for each task.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0400"/>
            <a:ext cx="10881360" cy="868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54864" cy="50292"/>
          </a:xfrm>
          <a:prstGeom prst="rect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FF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32"/>
                </a:solidFill>
                <a:latin typeface="Calibri"/>
              </a:defRPr>
            </a:pPr>
            <a:r>
              <a:t>Preprocessing determines 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66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Calibri"/>
              </a:defRPr>
            </a:pPr>
            <a:r>
              <a:t>Blurring, denoising, resizing — these operations directly impact how well your models perform.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10881360" cy="868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54864" cy="50292"/>
          </a:xfrm>
          <a:prstGeom prst="rect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B06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06AF0"/>
                </a:solidFill>
                <a:latin typeface="Calibri"/>
              </a:defRPr>
            </a:pPr>
            <a:r>
              <a:t>CV is transforming every industry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572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Calibri"/>
              </a:defRPr>
            </a:pPr>
            <a:r>
              <a:t>Healthcare, manufacturing, aviation, retail — the ability to extract meaning from pixels is now critical infrastructure.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12080"/>
            <a:ext cx="10881360" cy="868680"/>
          </a:xfrm>
          <a:prstGeom prst="roundRect">
            <a:avLst/>
          </a:prstGeom>
          <a:solidFill>
            <a:srgbClr val="15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212080"/>
            <a:ext cx="54864" cy="50292"/>
          </a:xfrm>
          <a:prstGeom prst="rect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5303520"/>
            <a:ext cx="502920" cy="502920"/>
          </a:xfrm>
          <a:prstGeom prst="ellipse">
            <a:avLst/>
          </a:prstGeom>
          <a:solidFill>
            <a:srgbClr val="F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3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257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5555"/>
                </a:solidFill>
                <a:latin typeface="Calibri"/>
              </a:defRPr>
            </a:pPr>
            <a:r>
              <a:t>Video = sequence of 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577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D6E5"/>
                </a:solidFill>
                <a:latin typeface="Calibri"/>
              </a:defRPr>
            </a:pPr>
            <a:r>
              <a:t>Everything you learn about single images applies to video. Process frame by frame at 30+ fps.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6217920"/>
            <a:ext cx="10881360" cy="457200"/>
          </a:xfrm>
          <a:prstGeom prst="roundRect">
            <a:avLst/>
          </a:prstGeom>
          <a:solidFill>
            <a:srgbClr val="1B2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2636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0829E"/>
                </a:solidFill>
                <a:latin typeface="Calibri"/>
              </a:defRPr>
            </a:pPr>
            <a:r>
              <a:t>Tomorrow (Day 2):  Edge Detection, Thresholding, Contours &amp; Feature Extraction  —  the building blocks for object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