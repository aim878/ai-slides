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32"/>
                </a:solidFill>
                <a:latin typeface="Calibri"/>
              </a:defRPr>
            </a:pPr>
            <a:r>
              <a:t>DAY 4  |  COMPUTER VISION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Deep Learning for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8C32"/>
                </a:solidFill>
                <a:latin typeface="Calibri"/>
              </a:defRPr>
            </a:pPr>
            <a:r>
              <a:t>&amp; The Turnaround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926080"/>
            <a:ext cx="393192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0829E"/>
                </a:solidFill>
                <a:latin typeface="Calibri"/>
              </a:defRPr>
            </a:pPr>
            <a:r>
              <a:t>Adding intelligence — from motion blobs to identified, classified objects</a:t>
            </a:r>
          </a:p>
        </p:txBody>
      </p:sp>
      <p:sp>
        <p:nvSpPr>
          <p:cNvPr id="9" name="Chevron 8"/>
          <p:cNvSpPr/>
          <p:nvPr/>
        </p:nvSpPr>
        <p:spPr>
          <a:xfrm>
            <a:off x="548640" y="3931920"/>
            <a:ext cx="1737360" cy="640080"/>
          </a:xfrm>
          <a:prstGeom prst="chevro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WHY</a:t>
            </a:r>
            <a:br/>
            <a:r>
              <a:t>DEEP LEARN</a:t>
            </a:r>
          </a:p>
        </p:txBody>
      </p:sp>
      <p:sp>
        <p:nvSpPr>
          <p:cNvPr id="11" name="Chevron 10"/>
          <p:cNvSpPr/>
          <p:nvPr/>
        </p:nvSpPr>
        <p:spPr>
          <a:xfrm>
            <a:off x="2468880" y="3931920"/>
            <a:ext cx="1737360" cy="640080"/>
          </a:xfrm>
          <a:prstGeom prst="chevron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OBJECT</a:t>
            </a:r>
            <a:br/>
            <a:r>
              <a:t>DETECTION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4389120" y="3931920"/>
            <a:ext cx="1737360" cy="640080"/>
          </a:xfrm>
          <a:prstGeom prst="chevron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YOLO</a:t>
            </a:r>
            <a:br/>
            <a:r>
              <a:t>ARCHITECT.</a:t>
            </a:r>
          </a:p>
        </p:txBody>
      </p:sp>
      <p:sp>
        <p:nvSpPr>
          <p:cNvPr id="15" name="Chevron 14"/>
          <p:cNvSpPr/>
          <p:nvPr/>
        </p:nvSpPr>
        <p:spPr>
          <a:xfrm>
            <a:off x="6309360" y="3931920"/>
            <a:ext cx="1737360" cy="640080"/>
          </a:xfrm>
          <a:prstGeom prst="chevron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HANDS-ON</a:t>
            </a:r>
            <a:br/>
            <a:r>
              <a:t>CODE</a:t>
            </a:r>
          </a:p>
        </p:txBody>
      </p:sp>
      <p:sp>
        <p:nvSpPr>
          <p:cNvPr id="17" name="Chevron 16"/>
          <p:cNvSpPr/>
          <p:nvPr/>
        </p:nvSpPr>
        <p:spPr>
          <a:xfrm>
            <a:off x="8229600" y="3931920"/>
            <a:ext cx="1737360" cy="640080"/>
          </a:xfrm>
          <a:prstGeom prst="chevron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CUSTOM</a:t>
            </a:r>
            <a:br/>
            <a:r>
              <a:t>TRAINING</a:t>
            </a:r>
          </a:p>
        </p:txBody>
      </p:sp>
      <p:sp>
        <p:nvSpPr>
          <p:cNvPr id="19" name="Chevron 18"/>
          <p:cNvSpPr/>
          <p:nvPr/>
        </p:nvSpPr>
        <p:spPr>
          <a:xfrm>
            <a:off x="10149840" y="3931920"/>
            <a:ext cx="1737360" cy="640080"/>
          </a:xfrm>
          <a:prstGeom prst="chevron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TURNAROUND</a:t>
            </a:r>
            <a:br/>
            <a:r>
              <a:t>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029200"/>
            <a:ext cx="292608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120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0829E"/>
                </a:solidFill>
                <a:latin typeface="Calibri"/>
              </a:defRPr>
            </a:pPr>
            <a:r>
              <a:t>DAYS 1-3: CLASSICAL CV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440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Edges, contours, motion</a:t>
            </a:r>
            <a:br/>
            <a:r>
              <a:t>Background subtraction</a:t>
            </a:r>
            <a:br/>
            <a:r>
              <a:t>Tracking anonymous blobs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206240" y="5532120"/>
            <a:ext cx="640080" cy="237744"/>
          </a:xfrm>
          <a:prstGeom prst="rightArrow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5029200"/>
            <a:ext cx="292608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5029200"/>
            <a:ext cx="292608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5120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32"/>
                </a:solidFill>
                <a:latin typeface="Calibri"/>
              </a:defRPr>
            </a:pPr>
            <a:r>
              <a:t>DAY 4: DEEP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440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YOLO object detection</a:t>
            </a:r>
            <a:br/>
            <a:r>
              <a:t>Identify specific objects</a:t>
            </a:r>
            <a:br/>
            <a:r>
              <a:t>Classified + tracked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138160" y="5532120"/>
            <a:ext cx="640080" cy="237744"/>
          </a:xfrm>
          <a:prstGeom prst="rightArrow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0" y="5029200"/>
            <a:ext cx="274320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1120" y="5029200"/>
            <a:ext cx="274320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5120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93D"/>
                </a:solidFill>
                <a:latin typeface="Calibri"/>
              </a:defRPr>
            </a:pPr>
            <a:r>
              <a:t>COMBINED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440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Classical + DL</a:t>
            </a:r>
            <a:br/>
            <a:r>
              <a:t>Turnaround time</a:t>
            </a:r>
            <a:br/>
            <a:r>
              <a:t>Event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Deep Learning for Computer Vision?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Classical CV detects motion and shapes — but it can't identify WHAT things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The Limitation of Classical 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Over Days 1-3 we built a powerful toolkit. But it has a</a:t>
            </a:r>
            <a:br/>
            <a:r>
              <a:t>fundamental gap — it can't understand what objects are:</a:t>
            </a:r>
            <a:br/>
            <a:br/>
            <a:r>
              <a:t>• Background subtraction detects a 'moving blob'</a:t>
            </a:r>
            <a:br/>
            <a:r>
              <a:t>  → But is it a fuel truck or a baggage cart?</a:t>
            </a:r>
            <a:br/>
            <a:br/>
            <a:r>
              <a:t>• Contour analysis finds a 'large rectangle'</a:t>
            </a:r>
            <a:br/>
            <a:r>
              <a:t>  → But is it the airplane or the terminal?</a:t>
            </a:r>
            <a:br/>
            <a:br/>
            <a:r>
              <a:t>• Optical flow shows 'something moved left'</a:t>
            </a:r>
            <a:br/>
            <a:r>
              <a:t>  → But was it a vehicle departing or arriving?</a:t>
            </a:r>
            <a:br/>
            <a:br/>
            <a:r>
              <a:t>Classical CV answers WHERE — Deep Learning answers WHAT.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How CNNs Learn to 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Convolutional Neural Networks learn visual features</a:t>
            </a:r>
            <a:br/>
            <a:r>
              <a:t>automatically from thousands of labeled examples: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286000"/>
            <a:ext cx="822960" cy="14630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286000"/>
            <a:ext cx="8229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377440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Input</a:t>
            </a:r>
            <a:br/>
            <a:r>
              <a:t>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2743200"/>
            <a:ext cx="768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D6E5"/>
                </a:solidFill>
                <a:latin typeface="Calibri"/>
              </a:defRPr>
            </a:pPr>
            <a:r>
              <a:t>Raw pixels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79792" y="2834640"/>
            <a:ext cx="137160" cy="237744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0" y="2286000"/>
            <a:ext cx="822960" cy="14630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2286000"/>
            <a:ext cx="82296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2" y="2377440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C32"/>
                </a:solidFill>
                <a:latin typeface="Calibri"/>
              </a:defRPr>
            </a:pPr>
            <a:r>
              <a:t>Conv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2743200"/>
            <a:ext cx="768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D6E5"/>
                </a:solidFill>
                <a:latin typeface="Calibri"/>
              </a:defRPr>
            </a:pPr>
            <a:r>
              <a:t>Edges &amp;</a:t>
            </a:r>
            <a:br/>
            <a:r>
              <a:t>Textures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94192" y="2834640"/>
            <a:ext cx="137160" cy="237744"/>
          </a:xfrm>
          <a:prstGeom prst="rightArrow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0" y="2286000"/>
            <a:ext cx="822960" cy="14630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0" y="2286000"/>
            <a:ext cx="82296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377440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DE08E"/>
                </a:solidFill>
                <a:latin typeface="Calibri"/>
              </a:defRPr>
            </a:pPr>
            <a:r>
              <a:t>Conv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2743200"/>
            <a:ext cx="768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D6E5"/>
                </a:solidFill>
                <a:latin typeface="Calibri"/>
              </a:defRPr>
            </a:pPr>
            <a:r>
              <a:t>Shapes &amp;</a:t>
            </a:r>
            <a:br/>
            <a:r>
              <a:t>Patterns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08592" y="2834640"/>
            <a:ext cx="137160" cy="237744"/>
          </a:xfrm>
          <a:prstGeom prst="rightArrow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0" y="2286000"/>
            <a:ext cx="822960" cy="14630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2286000"/>
            <a:ext cx="82296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45752" y="2377440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6AF0"/>
                </a:solidFill>
                <a:latin typeface="Calibri"/>
              </a:defRPr>
            </a:pPr>
            <a:r>
              <a:t>Conv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2743200"/>
            <a:ext cx="768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D6E5"/>
                </a:solidFill>
                <a:latin typeface="Calibri"/>
              </a:defRPr>
            </a:pPr>
            <a:r>
              <a:t>Parts &amp;</a:t>
            </a:r>
            <a:br/>
            <a:r>
              <a:t>Objects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222992" y="2834640"/>
            <a:ext cx="137160" cy="237744"/>
          </a:xfrm>
          <a:prstGeom prst="rightArrow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32720" y="2286000"/>
            <a:ext cx="822960" cy="14630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332720" y="2286000"/>
            <a:ext cx="82296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60152" y="2377440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5555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0152" y="2743200"/>
            <a:ext cx="768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D6E5"/>
                </a:solidFill>
                <a:latin typeface="Calibri"/>
              </a:defRPr>
            </a:pPr>
            <a:r>
              <a:t>'fuel truck'</a:t>
            </a:r>
            <a:br/>
            <a:r>
              <a:t>92% conf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97680"/>
            <a:ext cx="11247120" cy="237744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Classical CV + Deep Learning = Best of Both Worlds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7548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754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Best Approach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7548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59" y="47548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Why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937760"/>
            <a:ext cx="10607040" cy="4572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9834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Image preprocessing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49834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Classical CV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9834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49834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Grayscale, blur, resize — rules-based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2395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DE08E"/>
                </a:solidFill>
                <a:latin typeface="Calibri"/>
              </a:defRPr>
            </a:pPr>
            <a:r>
              <a:t>Edge / contour 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5239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Classical CV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523951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0" y="52395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Canny, findContours — deterministic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49554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Background subtraction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5495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Classical CV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5495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60" y="549554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MOG2 — statistical model of background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75157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06AF0"/>
                </a:solidFill>
                <a:latin typeface="Calibri"/>
              </a:defRPr>
            </a:pPr>
            <a:r>
              <a:t>Object classification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0" y="57515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57515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2160" y="575157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CNN identifies WHAT an object 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0076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555"/>
                </a:solidFill>
                <a:latin typeface="Calibri"/>
              </a:defRPr>
            </a:pPr>
            <a:r>
              <a:t>Object detection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8960" y="60076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60076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60" y="60076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YOLO finds what + where (bounding box)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62636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93D"/>
                </a:solidFill>
                <a:latin typeface="Calibri"/>
              </a:defRPr>
            </a:pPr>
            <a:r>
              <a:t>Object tracking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08960" y="62636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Hybrid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0" y="626364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3+4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5216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YOLO + DeepSORT — identified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1b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 Levels of Visual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Each level adds more detail about what's in the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370332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703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91640" y="1417320"/>
            <a:ext cx="685800" cy="685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945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146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829E"/>
                </a:solidFill>
                <a:latin typeface="Calibri"/>
              </a:defRPr>
            </a:pPr>
            <a:r>
              <a:t>What is in this image?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One label for the entire image.</a:t>
            </a:r>
            <a:br/>
            <a:r>
              <a:t>No location information.</a:t>
            </a:r>
            <a:br/>
            <a:br/>
            <a:r>
              <a:t>Input: image of a tarmac</a:t>
            </a:r>
            <a:br/>
            <a:r>
              <a:t>Output: 'fuel truck' (92%)</a:t>
            </a:r>
            <a:br/>
            <a:br/>
            <a:r>
              <a:t>Good for: sorting images</a:t>
            </a:r>
            <a:br/>
            <a:r>
              <a:t>by category.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79" y="5257800"/>
            <a:ext cx="34290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3035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model = YOLO('yolo11m-cls.pt')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280160"/>
            <a:ext cx="370332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280160"/>
            <a:ext cx="370332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23559" y="1417320"/>
            <a:ext cx="685800" cy="68580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1945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32"/>
                </a:solidFill>
                <a:latin typeface="Calibri"/>
              </a:defRPr>
            </a:pPr>
            <a:r>
              <a:t>Object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5146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829E"/>
                </a:solidFill>
                <a:latin typeface="Calibri"/>
              </a:defRPr>
            </a:pPr>
            <a:r>
              <a:t>What is here AND where?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880360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Labels + bounding boxes.</a:t>
            </a:r>
            <a:br/>
            <a:r>
              <a:t>Know what each object is</a:t>
            </a:r>
            <a:br/>
            <a:r>
              <a:t>and where it's located.</a:t>
            </a:r>
            <a:br/>
            <a:br/>
            <a:r>
              <a:t>Input: airport frame</a:t>
            </a:r>
            <a:br/>
            <a:r>
              <a:t>Output: 'fuel truck' at</a:t>
            </a:r>
            <a:br/>
            <a:r>
              <a:t>(x=100, y=200, w=150, h=80)</a:t>
            </a:r>
            <a:br/>
            <a:br/>
            <a:r>
              <a:t>Best for: our project!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5257800"/>
            <a:ext cx="34290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53035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C32"/>
                </a:solidFill>
                <a:latin typeface="Calibri"/>
              </a:defRPr>
            </a:pPr>
            <a:r>
              <a:t>model = YOLO('yolo11m.pt')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5760720"/>
            <a:ext cx="3429000" cy="411480"/>
          </a:xfrm>
          <a:prstGeom prst="roundRect">
            <a:avLst/>
          </a:prstGeom>
          <a:solidFill>
            <a:srgbClr val="FF8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58064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0C18"/>
                </a:solidFill>
                <a:latin typeface="Calibri"/>
              </a:defRPr>
            </a:pPr>
            <a:r>
              <a:t>⟵  Our project uses this level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280160"/>
            <a:ext cx="370332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280160"/>
            <a:ext cx="370332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1417320"/>
            <a:ext cx="685800" cy="68580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1945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DE08E"/>
                </a:solidFill>
                <a:latin typeface="Calibri"/>
              </a:defRPr>
            </a:pPr>
            <a:r>
              <a:t>Segmentation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5146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829E"/>
                </a:solidFill>
                <a:latin typeface="Calibri"/>
              </a:defRPr>
            </a:pPr>
            <a:r>
              <a:t>Pixel-perfect boundaries?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880360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Every pixel labeled.</a:t>
            </a:r>
            <a:br/>
            <a:r>
              <a:t>Exact shape outline for</a:t>
            </a:r>
            <a:br/>
            <a:r>
              <a:t>each detected object.</a:t>
            </a:r>
            <a:br/>
            <a:br/>
            <a:r>
              <a:t>Input: airport frame</a:t>
            </a:r>
            <a:br/>
            <a:r>
              <a:t>Output: mask showing every</a:t>
            </a:r>
            <a:br/>
            <a:r>
              <a:t>pixel of the fuel truck</a:t>
            </a:r>
            <a:br/>
            <a:br/>
            <a:r>
              <a:t>Best for: precise shape</a:t>
            </a:r>
            <a:br/>
            <a:r>
              <a:t>analysis.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257800"/>
            <a:ext cx="34290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53035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E08E"/>
                </a:solidFill>
                <a:latin typeface="Calibri"/>
              </a:defRPr>
            </a:pPr>
            <a:r>
              <a:t>model = YOLO('yolo11m-seg.pt')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Object Detection — Output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What a detector produces and how we measure its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What a Detector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For each detected object, you get three pieces of data: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120640" cy="11887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FF8C32"/>
                </a:solidFill>
                <a:latin typeface="Calibri"/>
              </a:defRPr>
            </a:pPr>
            <a:r>
              <a:t>detection = {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    'class':      'fuel_truck',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    'confidence':  0.92,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B06AF0"/>
                </a:solidFill>
                <a:latin typeface="Calibri"/>
              </a:defRPr>
            </a:pPr>
            <a:r>
              <a:t>    'bbox':        [x1, y1, x2, y2]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FF8C32"/>
                </a:solidFill>
                <a:latin typeface="Calibri"/>
              </a:defRPr>
            </a:pPr>
            <a: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class = what is it?  confidence = how sure?  bbox = where?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80160"/>
            <a:ext cx="530352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Two Approaches to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783080"/>
            <a:ext cx="4754880" cy="9144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783080"/>
            <a:ext cx="475488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874519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6AF0"/>
                </a:solidFill>
                <a:latin typeface="Calibri"/>
              </a:defRPr>
            </a:pPr>
            <a:r>
              <a:t>Two-Stage: Faster R-CNN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48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1) Propose regions  2) Classify each region.</a:t>
            </a:r>
            <a:br/>
            <a:r>
              <a:t>Higher accuracy, but slower (5-10 FPS).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834640"/>
            <a:ext cx="4754880" cy="6400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2834640"/>
            <a:ext cx="475488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9260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E08E"/>
                </a:solidFill>
                <a:latin typeface="Calibri"/>
              </a:defRPr>
            </a:pPr>
            <a:r>
              <a:t>One-Stage: YOLO / SSD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004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Single pass → all detections at once. Real-time! (30-180 FPS)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1124712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4B2"/>
                </a:solidFill>
                <a:latin typeface="Calibri"/>
              </a:defRPr>
            </a:pPr>
            <a:r>
              <a:t>Detection Metrics — How We Measure 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43400"/>
            <a:ext cx="2011680" cy="20116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20116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4434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4709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Of all detections made,</a:t>
            </a:r>
            <a:br/>
            <a:r>
              <a:t>how many were correct?</a:t>
            </a:r>
            <a:br/>
            <a:br/>
            <a:r>
              <a:t>TP / (TP + FP)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19" y="5669280"/>
            <a:ext cx="1828800" cy="2743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875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4FF"/>
                </a:solidFill>
                <a:latin typeface="Calibri"/>
              </a:defRPr>
            </a:pPr>
            <a:r>
              <a:t>Ideal: 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High = few false alarms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34639" y="4343400"/>
            <a:ext cx="2011680" cy="20116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39" y="4343400"/>
            <a:ext cx="201168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79" y="4434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32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79" y="4709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Of all real objects,</a:t>
            </a:r>
            <a:br/>
            <a:r>
              <a:t>how many were found?</a:t>
            </a:r>
            <a:br/>
            <a:br/>
            <a:r>
              <a:t>TP / (TP + FN)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79" y="5669280"/>
            <a:ext cx="1828800" cy="2743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799" y="56875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8C32"/>
                </a:solidFill>
                <a:latin typeface="Calibri"/>
              </a:defRPr>
            </a:pPr>
            <a:r>
              <a:t>Ideal: 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79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High = missed nothing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4343400"/>
            <a:ext cx="2011680" cy="20116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4343400"/>
            <a:ext cx="201168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434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E08E"/>
                </a:solidFill>
                <a:latin typeface="Calibri"/>
              </a:defRPr>
            </a:pPr>
            <a:r>
              <a:t>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4709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Mean Average Precision</a:t>
            </a:r>
            <a:br/>
            <a:r>
              <a:t>across all classes.</a:t>
            </a:r>
            <a:br/>
            <a:br/>
            <a:r>
              <a:t>Overall quality metric.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5669280"/>
            <a:ext cx="1828800" cy="2743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60" y="56875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E08E"/>
                </a:solidFill>
                <a:latin typeface="Calibri"/>
              </a:defRPr>
            </a:pPr>
            <a:r>
              <a:t>Ideal: 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Standard benchmark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23759" y="4343400"/>
            <a:ext cx="2011680" cy="20116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23759" y="4343400"/>
            <a:ext cx="201168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199" y="4434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6AF0"/>
                </a:solidFill>
                <a:latin typeface="Calibri"/>
              </a:defRPr>
            </a:pPr>
            <a:r>
              <a:t>IoU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199" y="4709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Intersection over Union.</a:t>
            </a:r>
            <a:br/>
            <a:r>
              <a:t>How well does predicted</a:t>
            </a:r>
            <a:br/>
            <a:r>
              <a:t>box overlap the real box?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199" y="5669280"/>
            <a:ext cx="1828800" cy="2743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19" y="56875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6AF0"/>
                </a:solidFill>
                <a:latin typeface="Calibri"/>
              </a:defRPr>
            </a:pPr>
            <a:r>
              <a:t>Ideal: 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199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≥0.5 = correct detection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18319" y="4343400"/>
            <a:ext cx="2011680" cy="20116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18319" y="4343400"/>
            <a:ext cx="201168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59" y="4434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5555"/>
                </a:solidFill>
                <a:latin typeface="Calibri"/>
              </a:defRPr>
            </a:pPr>
            <a:r>
              <a:t>FPS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59" y="4709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Frames per second.</a:t>
            </a:r>
            <a:br/>
            <a:r>
              <a:t>How fast can the model</a:t>
            </a:r>
            <a:br/>
            <a:r>
              <a:t>process video?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09759" y="5669280"/>
            <a:ext cx="1828800" cy="2743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5480" y="56875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5555"/>
                </a:solidFill>
                <a:latin typeface="Calibri"/>
              </a:defRPr>
            </a:pPr>
            <a:r>
              <a:t>Ideal: Higher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59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Real-time ≥ 30 FPS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IoU — Intersection over Union (Visual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The key metric for judging if a detection's bounding box is correct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How IoU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IoU measures overlap between the predicted bounding box and the ground truth (real) box.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377440"/>
            <a:ext cx="1097280" cy="731520"/>
          </a:xfrm>
          <a:prstGeom prst="rect">
            <a:avLst/>
          </a:prstGeom>
          <a:solidFill>
            <a:srgbClr val="501E1E"/>
          </a:solidFill>
          <a:ln w="25400">
            <a:solidFill>
              <a:srgbClr val="F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377440"/>
            <a:ext cx="1097280" cy="731520"/>
          </a:xfrm>
          <a:prstGeom prst="rect">
            <a:avLst/>
          </a:prstGeom>
          <a:solidFill>
            <a:srgbClr val="1E1E50"/>
          </a:solidFill>
          <a:ln w="25400">
            <a:solidFill>
              <a:srgbClr val="F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5555"/>
                </a:solidFill>
                <a:latin typeface="Calibri"/>
              </a:defRPr>
            </a:pPr>
            <a:r>
              <a:t>IoU = 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No Overlap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377440"/>
            <a:ext cx="1280160" cy="731520"/>
          </a:xfrm>
          <a:prstGeom prst="rect">
            <a:avLst/>
          </a:prstGeom>
          <a:solidFill>
            <a:srgbClr val="503714"/>
          </a:solidFill>
          <a:ln w="2540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377440"/>
            <a:ext cx="1280160" cy="731520"/>
          </a:xfrm>
          <a:prstGeom prst="rect">
            <a:avLst/>
          </a:prstGeom>
          <a:solidFill>
            <a:srgbClr val="282850"/>
          </a:solidFill>
          <a:ln w="2540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32"/>
                </a:solidFill>
                <a:latin typeface="Calibri"/>
              </a:defRPr>
            </a:pPr>
            <a:r>
              <a:t>IoU = 0.5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4290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50% Overlap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2377440"/>
            <a:ext cx="1280160" cy="731520"/>
          </a:xfrm>
          <a:prstGeom prst="rect">
            <a:avLst/>
          </a:prstGeom>
          <a:solidFill>
            <a:srgbClr val="1E5032"/>
          </a:solidFill>
          <a:ln w="25400">
            <a:solidFill>
              <a:srgbClr val="3DE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200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E08E"/>
                </a:solidFill>
                <a:latin typeface="Calibri"/>
              </a:defRPr>
            </a:pPr>
            <a:r>
              <a:t>IoU = 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4290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Perfect Match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80"/>
            <a:ext cx="566928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IoU = Area of Overlap / Area of Union</a:t>
            </a:r>
            <a:br/>
            <a:br/>
            <a:r>
              <a:t>Where Union = Area(Predicted) + Area(Ground Truth) - Overlap</a:t>
            </a:r>
            <a:br/>
            <a:r>
              <a:t>Ranges from 0.0 (no overlap) to 1.0 (perfect)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840480"/>
            <a:ext cx="530352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DE08E"/>
                </a:solidFill>
                <a:latin typeface="Calibri"/>
              </a:defRPr>
            </a:pPr>
            <a:r>
              <a:t>Detection = Correct When: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97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1. IoU ≥ 0.5  (box overlaps enough with ground truth)</a:t>
            </a:r>
            <a:br/>
            <a:r>
              <a:t>              AND</a:t>
            </a:r>
            <a:br/>
            <a:r>
              <a:t>2. Class label matches  ('truck' predicted, 'truck' is real)</a:t>
            </a:r>
            <a:br/>
            <a:br/>
            <a:r>
              <a:t>If either condition fails → false positive (wrong detection).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06AF0"/>
                </a:solidFill>
                <a:latin typeface="Calibri"/>
              </a:defRPr>
            </a:pPr>
            <a:r>
              <a:t>Non-Maximum Suppression (NMS)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978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When multiple boxes detect the same object, NMS keeps only the best one. It compares all overlapping boxes (IoU &gt; threshold), keeps the highest confidence, and removes the rest. This prevents duplicate detections of the same object.  •  Parameter: iou threshold (default 0.7)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YOLO — You Only Look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One forward pass through the network → all detections. That's why it's fast.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DE08E"/>
                </a:solidFill>
                <a:latin typeface="Calibri"/>
              </a:defRPr>
            </a:pPr>
            <a:r>
              <a:t>How YOLO Works — 4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2560320" cy="20116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2560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92024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  <a:latin typeface="Calibri"/>
              </a:defRPr>
            </a:pPr>
            <a:r>
              <a:t>DIVIDE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8346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Split image into</a:t>
            </a:r>
            <a:br/>
            <a:r>
              <a:t>an S×S grid</a:t>
            </a:r>
            <a:br/>
            <a:r>
              <a:t>(e.g. 13×13).</a:t>
            </a:r>
            <a:br/>
            <a:r>
              <a:t>Each cell is</a:t>
            </a:r>
            <a:br/>
            <a:r>
              <a:t>responsible for</a:t>
            </a:r>
            <a:br/>
            <a:r>
              <a:t>detecting objects</a:t>
            </a:r>
            <a:br/>
            <a:r>
              <a:t>whose center</a:t>
            </a:r>
            <a:br/>
            <a:r>
              <a:t>falls in it.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82111" y="2743200"/>
            <a:ext cx="27432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1783080"/>
            <a:ext cx="2560320" cy="20116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783080"/>
            <a:ext cx="256032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97680" y="1920240"/>
            <a:ext cx="502920" cy="50292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32"/>
                </a:solidFill>
                <a:latin typeface="Calibri"/>
              </a:defRPr>
            </a:pPr>
            <a:r>
              <a:t>PREDICT</a:t>
            </a:r>
            <a:br/>
            <a:r>
              <a:t>BOXES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8346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Each grid cell</a:t>
            </a:r>
            <a:br/>
            <a:r>
              <a:t>predicts B</a:t>
            </a:r>
            <a:br/>
            <a:r>
              <a:t>bounding boxes +</a:t>
            </a:r>
            <a:br/>
            <a:r>
              <a:t>confidence scores.</a:t>
            </a:r>
            <a:br/>
            <a:r>
              <a:t>Confidence = how</a:t>
            </a:r>
            <a:br/>
            <a:r>
              <a:t>likely this box</a:t>
            </a:r>
            <a:br/>
            <a:r>
              <a:t>contains any</a:t>
            </a:r>
            <a:br/>
            <a:r>
              <a:t>object.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71031" y="2743200"/>
            <a:ext cx="27432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2560320" cy="20116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783080"/>
            <a:ext cx="256032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86600" y="1920240"/>
            <a:ext cx="502920" cy="50292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DE08E"/>
                </a:solidFill>
                <a:latin typeface="Calibri"/>
              </a:defRPr>
            </a:pPr>
            <a:r>
              <a:t>PREDICT</a:t>
            </a:r>
            <a:br/>
            <a:r>
              <a:t>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8346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Each cell also</a:t>
            </a:r>
            <a:br/>
            <a:r>
              <a:t>predicts class</a:t>
            </a:r>
            <a:br/>
            <a:r>
              <a:t>probabilities:</a:t>
            </a:r>
            <a:br/>
            <a:r>
              <a:t>P(airplane),</a:t>
            </a:r>
            <a:br/>
            <a:r>
              <a:t>P(truck), etc.</a:t>
            </a:r>
            <a:br/>
            <a:r>
              <a:t>Combined with</a:t>
            </a:r>
            <a:br/>
            <a:r>
              <a:t>box confidence</a:t>
            </a:r>
            <a:br/>
            <a:r>
              <a:t>for final score.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759952" y="2743200"/>
            <a:ext cx="27432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06839" y="1783080"/>
            <a:ext cx="2560320" cy="20116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39" y="1783080"/>
            <a:ext cx="256032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19" y="1920240"/>
            <a:ext cx="502920" cy="50292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79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5555"/>
                </a:solidFill>
                <a:latin typeface="Calibri"/>
              </a:defRPr>
            </a:pPr>
            <a:r>
              <a:t>NMS</a:t>
            </a:r>
            <a:br/>
            <a:r>
              <a:t>CLEANUP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79" y="28346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Non-Maximum</a:t>
            </a:r>
            <a:br/>
            <a:r>
              <a:t>Suppression</a:t>
            </a:r>
            <a:br/>
            <a:r>
              <a:t>removes duplicate</a:t>
            </a:r>
            <a:br/>
            <a:r>
              <a:t>detections.</a:t>
            </a:r>
            <a:br/>
            <a:r>
              <a:t>Keep highest</a:t>
            </a:r>
            <a:br/>
            <a:r>
              <a:t>confidence box,</a:t>
            </a:r>
            <a:br/>
            <a:r>
              <a:t>delete overlapping</a:t>
            </a:r>
            <a:br/>
            <a:r>
              <a:t>ones.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97680"/>
            <a:ext cx="5669280" cy="237744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Why Single Pass = Fast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Traditional detectors (Faster R-CNN) do TWO passes:</a:t>
            </a:r>
            <a:br/>
            <a:r>
              <a:t>  Pass 1: Propose ~2,000 regions of interest</a:t>
            </a:r>
            <a:br/>
            <a:r>
              <a:t>  Pass 2: Classify each region separately</a:t>
            </a:r>
            <a:br/>
            <a:r>
              <a:t>  → 2,000+ neural network evaluations per image!</a:t>
            </a:r>
            <a:br/>
            <a:br/>
            <a:r>
              <a:t>YOLO does ONE pass:</a:t>
            </a:r>
            <a:br/>
            <a:r>
              <a:t>  The entire image goes through the network once.</a:t>
            </a:r>
            <a:br/>
            <a:r>
              <a:t>  All grid cells predict simultaneously in parallel.</a:t>
            </a:r>
            <a:br/>
            <a:r>
              <a:t>  → 1 neural network evaluation per image.</a:t>
            </a:r>
            <a:br/>
            <a:br/>
            <a:r>
              <a:t>This is 50-100× faster than two-stage detectors.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297680"/>
            <a:ext cx="5303520" cy="237744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389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Grid Prediction — Visual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709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Image divided into cells, each predicting boxes: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029200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5029200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63840" y="5029200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66760" y="5029200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69680" y="5029200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72600" y="5029200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75520" y="5029200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0" y="5376672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60920" y="5376672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63840" y="5376672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66760" y="5376672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69680" y="5376672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72600" y="5376672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75520" y="5376672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58000" y="5724144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60920" y="5724144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863840" y="5724144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66760" y="5724144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69680" y="5724144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72600" y="5724144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75520" y="5724144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58000" y="6071616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60920" y="6071616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863840" y="6071616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66760" y="6071616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69680" y="6071616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72600" y="6071616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875520" y="6071616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858000" y="6419088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60920" y="6419088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863840" y="6419088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66760" y="6419088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69680" y="6419088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72600" y="6419088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875520" y="6419088"/>
            <a:ext cx="457200" cy="301752"/>
          </a:xfrm>
          <a:prstGeom prst="rect">
            <a:avLst/>
          </a:prstGeom>
          <a:solidFill>
            <a:srgbClr val="1E2C4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63840" y="5376672"/>
            <a:ext cx="457200" cy="301752"/>
          </a:xfrm>
          <a:prstGeom prst="rect">
            <a:avLst/>
          </a:prstGeom>
          <a:solidFill>
            <a:srgbClr val="143C28"/>
          </a:solidFill>
          <a:ln w="25400">
            <a:solidFill>
              <a:srgbClr val="3DE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06640" y="5029200"/>
            <a:ext cx="1508760" cy="1051560"/>
          </a:xfrm>
          <a:prstGeom prst="rect">
            <a:avLst/>
          </a:prstGeom>
          <a:noFill/>
          <a:ln w="25400">
            <a:solidFill>
              <a:srgbClr val="3DE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E08E"/>
                </a:solidFill>
                <a:latin typeface="Calibri"/>
              </a:defRPr>
            </a:pPr>
            <a:r>
              <a:t>← detected object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0" y="5303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← responsible cell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5120" y="640080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Each cell: B boxes × (5 coords + C classes)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YOLO Evolution — 2015 to YOLO11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Each version faster, more accurate, easier to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1828800" cy="32004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829E"/>
                </a:solidFill>
                <a:latin typeface="Calibri"/>
              </a:defRPr>
            </a:pPr>
            <a:r>
              <a:t>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Single-pass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45 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310896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36210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4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40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084831" y="2560320"/>
            <a:ext cx="18288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0279" y="1280160"/>
            <a:ext cx="1828800" cy="32004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79" y="128016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43200" y="141732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057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829E"/>
                </a:solidFill>
                <a:latin typeface="Calibri"/>
              </a:defRPr>
            </a:pPr>
            <a:r>
              <a:t>2016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331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Batch norm, anchors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200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67 FPS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3657600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3657600"/>
            <a:ext cx="621792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9232" y="36210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4FF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840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Better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050791" y="2560320"/>
            <a:ext cx="18288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06240" y="1280160"/>
            <a:ext cx="1828800" cy="32004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1280160"/>
            <a:ext cx="18288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09159" y="1417320"/>
            <a:ext cx="548640" cy="54864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v3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79" y="2057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829E"/>
                </a:solidFill>
                <a:latin typeface="Calibri"/>
              </a:defRPr>
            </a:pPr>
            <a:r>
              <a:t>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79" y="2331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Feature Pyramid, 3 scales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79" y="3200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32"/>
                </a:solidFill>
                <a:latin typeface="Calibri"/>
              </a:defRPr>
            </a:pPr>
            <a:r>
              <a:t>30 FPS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79" y="3657600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79" y="3657600"/>
            <a:ext cx="932688" cy="1371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76087" y="36210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32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3840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016752" y="2560320"/>
            <a:ext cx="18288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72199" y="1280160"/>
            <a:ext cx="1828800" cy="32004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199" y="1280160"/>
            <a:ext cx="18288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675119" y="1417320"/>
            <a:ext cx="548640" cy="54864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v5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39" y="2057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829E"/>
                </a:solidFill>
                <a:latin typeface="Calibri"/>
              </a:defRPr>
            </a:pPr>
            <a:r>
              <a:t>2020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39" y="2331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PyTorch, easy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39" y="3200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DE08E"/>
                </a:solidFill>
                <a:latin typeface="Calibri"/>
              </a:defRPr>
            </a:pPr>
            <a:r>
              <a:t>140 FPS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39" y="3657600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39" y="3657600"/>
            <a:ext cx="1243584" cy="1371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52944" y="36210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E08E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39" y="3840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V.Good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982711" y="2560320"/>
            <a:ext cx="18288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38160" y="1280160"/>
            <a:ext cx="1828800" cy="32004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38160" y="1280160"/>
            <a:ext cx="182880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641080" y="1417320"/>
            <a:ext cx="548640" cy="54864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v8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2057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829E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2331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Anchor-free, Ultralytics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3200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06AF0"/>
                </a:solidFill>
                <a:latin typeface="Calibri"/>
              </a:defRPr>
            </a:pPr>
            <a:r>
              <a:t>160 FPS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3657600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9600" y="3657600"/>
            <a:ext cx="1399032" cy="13716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74352" y="36210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06AF0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3840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948672" y="2560320"/>
            <a:ext cx="18288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104120" y="1280160"/>
            <a:ext cx="1828800" cy="32004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104120" y="1280160"/>
            <a:ext cx="182880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07040" y="1417320"/>
            <a:ext cx="548640" cy="5486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5560" y="2057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829E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95560" y="2331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C3k2, C2PSA attention</a:t>
            </a:r>
            <a:br/>
            <a:r>
              <a:t>22% fewer params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95560" y="3200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93D"/>
                </a:solidFill>
                <a:latin typeface="Calibri"/>
              </a:defRPr>
            </a:pPr>
            <a:r>
              <a:t>180+ FPS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95560" y="3657600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195560" y="3657600"/>
            <a:ext cx="1243584" cy="13716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484864" y="36210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D93D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95560" y="3840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State of Art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754880"/>
            <a:ext cx="11247120" cy="457200"/>
          </a:xfrm>
          <a:prstGeom prst="round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C18"/>
                </a:solidFill>
                <a:latin typeface="Calibri"/>
              </a:defRPr>
            </a:pPr>
            <a:r>
              <a:t>We use YOLO11 — the latest, fastest, and most accurate. Same simple Ultralytics API.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5440680"/>
            <a:ext cx="11247120" cy="11887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5532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C4B2"/>
                </a:solidFill>
                <a:latin typeface="Calibri"/>
              </a:defRPr>
            </a:pPr>
            <a:r>
              <a:t>Pre-Trained on COCO — 80 Classes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" y="5852160"/>
            <a:ext cx="2606040" cy="685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" y="5852160"/>
            <a:ext cx="36576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589788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Vehicles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6080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car, bus, truck, airplane,</a:t>
            </a:r>
            <a:br/>
            <a:r>
              <a:t>motorcycle, bicycle, boat, train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429000" y="5852160"/>
            <a:ext cx="2606040" cy="685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429000" y="5852160"/>
            <a:ext cx="36576" cy="6858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66160" y="589788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66160" y="6080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person (single class — but</a:t>
            </a:r>
            <a:br/>
            <a:r>
              <a:t>very robust detection)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17920" y="5852160"/>
            <a:ext cx="2606040" cy="685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217920" y="5852160"/>
            <a:ext cx="36576" cy="68580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80" y="589788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DE08E"/>
                </a:solidFill>
                <a:latin typeface="Calibri"/>
              </a:defRPr>
            </a:pPr>
            <a:r>
              <a:t>Airport-relevant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55080" y="6080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airplane ✓  truck ✓  car ✓</a:t>
            </a:r>
            <a:br/>
            <a:r>
              <a:t>person ✓  bus ✓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006839" y="5852160"/>
            <a:ext cx="2606040" cy="685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006839" y="5852160"/>
            <a:ext cx="36576" cy="68580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43999" y="589788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555"/>
                </a:solidFill>
                <a:latin typeface="Calibri"/>
              </a:defRPr>
            </a:pPr>
            <a:r>
              <a:t>Not in COCO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3999" y="6080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jet bridge ✗  fuel truck ✗</a:t>
            </a:r>
            <a:br/>
            <a:r>
              <a:t>baggage cart ✗  pushback 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YOLO11 Model Sizes — Speed vs Accuracy Tradeoff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Five sizes from edge devices to maximum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2148840" cy="5029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14884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Calibri"/>
              </a:defRPr>
            </a:pPr>
            <a:r>
              <a:t>Nano</a:t>
            </a:r>
            <a:br/>
            <a:r>
              <a:t>(11n)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Params: 2.6M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945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mAP: 39.5%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Speed: 1.5ms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93D"/>
                </a:solidFill>
                <a:latin typeface="Calibri"/>
              </a:defRPr>
            </a:pPr>
            <a:r>
              <a:t>Best for: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718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Edge, 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66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947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3840480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840480"/>
            <a:ext cx="1172718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9998" y="38039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4FF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422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4187952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4187952"/>
            <a:ext cx="493776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91056" y="415137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4FF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8970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535424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4535424"/>
            <a:ext cx="123444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20724" y="44988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4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800600"/>
            <a:ext cx="196596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82803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4FF"/>
                </a:solidFill>
                <a:latin typeface="Calibri"/>
              </a:defRPr>
            </a:pPr>
            <a:r>
              <a:t>YOLO('11n.pt')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6039" y="1280160"/>
            <a:ext cx="2148840" cy="5029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06039" y="1280160"/>
            <a:ext cx="214884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79" y="14173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32"/>
                </a:solidFill>
                <a:latin typeface="Calibri"/>
              </a:defRPr>
            </a:pPr>
            <a:r>
              <a:t>Small</a:t>
            </a:r>
            <a:br/>
            <a:r>
              <a:t>(11s)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92024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Params: 9.4M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1945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mAP: 47.0%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79" y="246888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Speed: 2.5ms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79" y="27432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93D"/>
                </a:solidFill>
                <a:latin typeface="Calibri"/>
              </a:defRPr>
            </a:pPr>
            <a:r>
              <a:t>Best for: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79" y="29718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Embedded,</a:t>
            </a:r>
            <a:br/>
            <a:r>
              <a:t>real-time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79" y="3566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79" y="37947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79" y="3840480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83279" y="3840480"/>
            <a:ext cx="1049274" cy="1371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78274" y="38039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32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79" y="41422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4187952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83279" y="4187952"/>
            <a:ext cx="678942" cy="1371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07941" y="415137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32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7479" y="448970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535424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83279" y="4535424"/>
            <a:ext cx="308610" cy="1371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37609" y="44988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32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97479" y="4800600"/>
            <a:ext cx="196596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199" y="482803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C32"/>
                </a:solidFill>
                <a:latin typeface="Calibri"/>
              </a:defRPr>
            </a:pPr>
            <a:r>
              <a:t>YOLO('11s.pt')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37759" y="1280160"/>
            <a:ext cx="2148840" cy="5029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37759" y="1280160"/>
            <a:ext cx="214884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199" y="14173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E08E"/>
                </a:solidFill>
                <a:latin typeface="Calibri"/>
              </a:defRPr>
            </a:pPr>
            <a:r>
              <a:t>Medium</a:t>
            </a:r>
            <a:br/>
            <a:r>
              <a:t>(11m)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199" y="192024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Params: 20.1M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199" y="21945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mAP: 51.5%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199" y="246888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Speed: 4.7ms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199" y="27432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93D"/>
                </a:solidFill>
                <a:latin typeface="Calibri"/>
              </a:defRPr>
            </a:pPr>
            <a:r>
              <a:t>Best for: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199" y="29718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Balanced</a:t>
            </a:r>
            <a:br/>
            <a:r>
              <a:t>(recommended)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199" y="3566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199" y="37947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14999" y="3840480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14999" y="3840480"/>
            <a:ext cx="802386" cy="1371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63105" y="38039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E08E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199" y="41422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14999" y="4187952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14999" y="4187952"/>
            <a:ext cx="888796" cy="1371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49516" y="415137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E08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199" y="448970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14999" y="4535424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714999" y="4535424"/>
            <a:ext cx="617220" cy="1371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77939" y="44988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E08E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199" y="4800600"/>
            <a:ext cx="196596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482803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DE08E"/>
                </a:solidFill>
                <a:latin typeface="Calibri"/>
              </a:defRPr>
            </a:pPr>
            <a:r>
              <a:t>YOLO('11m.pt')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269479" y="1280160"/>
            <a:ext cx="2148840" cy="5029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69479" y="1280160"/>
            <a:ext cx="214884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60919" y="14173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6AF0"/>
                </a:solidFill>
                <a:latin typeface="Calibri"/>
              </a:defRPr>
            </a:pPr>
            <a:r>
              <a:t>Large</a:t>
            </a:r>
            <a:br/>
            <a:r>
              <a:t>(11l)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60919" y="192024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Params: 25.3M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60919" y="21945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mAP: 53.4%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60919" y="246888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Speed: 6.2ms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60919" y="27432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93D"/>
                </a:solidFill>
                <a:latin typeface="Calibri"/>
              </a:defRPr>
            </a:pPr>
            <a:r>
              <a:t>Best for: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60919" y="29718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High</a:t>
            </a:r>
            <a:br/>
            <a:r>
              <a:t>accuracy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60919" y="3566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60919" y="37947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46719" y="3840480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046719" y="3840480"/>
            <a:ext cx="617220" cy="13716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09660" y="38039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06AF0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60919" y="41422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46719" y="4187952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46719" y="4187952"/>
            <a:ext cx="1049274" cy="13716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41713" y="415137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06AF0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60919" y="448970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46719" y="4535424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46719" y="4535424"/>
            <a:ext cx="802386" cy="13716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894826" y="44988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06AF0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360919" y="4800600"/>
            <a:ext cx="196596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06640" y="482803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6AF0"/>
                </a:solidFill>
                <a:latin typeface="Calibri"/>
              </a:defRPr>
            </a:pPr>
            <a:r>
              <a:t>YOLO('11l.pt')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601200" y="1280160"/>
            <a:ext cx="2148840" cy="5029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601200" y="1280160"/>
            <a:ext cx="214884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92640" y="14173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5555"/>
                </a:solidFill>
                <a:latin typeface="Calibri"/>
              </a:defRPr>
            </a:pPr>
            <a:r>
              <a:t>XLarge</a:t>
            </a:r>
            <a:br/>
            <a:r>
              <a:t>(11x)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92640" y="192024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Params: 56.9M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92640" y="21945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mAP: 54.7%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92640" y="246888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Speed: 11.3ms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92640" y="274320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93D"/>
                </a:solidFill>
                <a:latin typeface="Calibri"/>
              </a:defRPr>
            </a:pPr>
            <a:r>
              <a:t>Best for: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692640" y="29718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Maximum</a:t>
            </a:r>
            <a:br/>
            <a:r>
              <a:t>accuracy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92640" y="356616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92640" y="37947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378440" y="3840480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378440" y="3840480"/>
            <a:ext cx="308610" cy="1371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732770" y="38039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5555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92640" y="41422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378440" y="4187952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378440" y="4187952"/>
            <a:ext cx="1172718" cy="1371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596878" y="415137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5555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92640" y="448970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378440" y="4535424"/>
            <a:ext cx="123444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378440" y="4535424"/>
            <a:ext cx="1172718" cy="1371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596878" y="44988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5555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692640" y="4800600"/>
            <a:ext cx="196596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738360" y="482803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5555"/>
                </a:solidFill>
                <a:latin typeface="Calibri"/>
              </a:defRPr>
            </a:pPr>
            <a:r>
              <a:t>YOLO('11x.pt')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57200" y="6537960"/>
            <a:ext cx="11247120" cy="22860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DE08E"/>
                </a:solidFill>
                <a:latin typeface="Calibri"/>
              </a:defRPr>
            </a:pPr>
            <a:r>
              <a:t>Recommendation: YOLO11m for our project — best balance of accuracy (51.5% mAP) and speed (4.7ms)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YOLO in Python — Image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Three lines to detect objects. The Ultralytics API is beautifully simple.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29260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6AF0"/>
                </a:solidFill>
                <a:latin typeface="Calibri"/>
              </a:defRPr>
            </a:pPr>
            <a:r>
              <a:t>Installation + Basic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Install (one package does everything)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pip install ultralytics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from ultralytics import YOLO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Load pre-trained model (auto-downloads)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0D4FF"/>
                </a:solidFill>
                <a:latin typeface="Calibri"/>
              </a:defRPr>
            </a:pPr>
            <a:r>
              <a:t>model = YOLO('yolo11m.pt')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Detect objects in an image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results = model('airport_frame.jpg')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Save annotated image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results[0].save('output.jpg')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1">
                <a:solidFill>
                  <a:srgbClr val="FFD93D"/>
                </a:solidFill>
                <a:latin typeface="Calibri"/>
              </a:defRPr>
            </a:pPr>
            <a:r>
              <a:t># That's it! Three lines for full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29260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Accessing Detection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for result in results: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for box in result.boxes: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        # Bounding box coordinates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        x1,y1,x2,y2 = box.xyxy[0].tolist()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        # Confidence score (0-1)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        conf = box.conf[0].item()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        # Class name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    cls_id = int(box.cls[0])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        name = model.names[cls_id]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D93D"/>
                </a:solidFill>
                <a:latin typeface="Calibri"/>
              </a:defRPr>
            </a:pPr>
            <a:r>
              <a:t>        print(f'{name}: {conf:.2f}')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21945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Key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conf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9377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3776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Minimum confidence. Higher = fewer but more certain detections.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iou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212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0.7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212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NMS IoU threshold. Higher = stricter duplicate removal.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DE08E"/>
                </a:solidFill>
                <a:latin typeface="Calibri"/>
              </a:defRPr>
            </a:pPr>
            <a:r>
              <a:t>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486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48640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Filter to specific class IDs: classes=[0, 2, 4, 7]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06AF0"/>
                </a:solidFill>
                <a:latin typeface="Calibri"/>
              </a:defRPr>
            </a:pPr>
            <a:r>
              <a:t>imgsz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7607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640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76072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Input size. Larger = slower but catches small objects.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0350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555"/>
                </a:solidFill>
                <a:latin typeface="Calibri"/>
              </a:defRPr>
            </a:pPr>
            <a:r>
              <a:t>device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60350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603504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'cpu', 'cuda:0' (NVIDIA GPU), or 'mps' (Apple Silicon).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3093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verbose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6309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630936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Print results to console. Set False for clean video loops.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YOLO on Video — Frame-by-Frame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Same Day 3 video loop + YOLO detection per 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5303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Video Detection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from ultralytics import YOLO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import cv2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0D4FF"/>
                </a:solidFill>
                <a:latin typeface="Calibri"/>
              </a:defRPr>
            </a:pPr>
            <a:r>
              <a:t>model = YOLO('yolo11m.pt')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cap = cv2.VideoCapture('Airplane_Video.mp4')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while True: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ret, frame = cap.read()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if not ret: break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# Run YOLO on this frame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    results = model(frame,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                    conf=0.5,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                    verbose=False)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# Get annotated frame with boxes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FF8C32"/>
                </a:solidFill>
                <a:latin typeface="Calibri"/>
              </a:defRPr>
            </a:pPr>
            <a:r>
              <a:t>    annotated = results[0].plot()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cv2.imshow('YOLO', annotated)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if cv2.waitKey(1) &amp; 0xFF==ord('q'):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    break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cap.release()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5555"/>
                </a:solidFill>
                <a:latin typeface="Calibri"/>
              </a:defRPr>
            </a:pPr>
            <a:r>
              <a:t>Filtering to Airport-Relevant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COCO has 80 classes — we only care about a few.</a:t>
            </a:r>
            <a:br/>
            <a:r>
              <a:t>Filter to avoid detecting cups, books, etc.: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286000"/>
            <a:ext cx="4754880" cy="14630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331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COCO class IDs we care about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AIRPORT_CLASSES = {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00D4FF"/>
                </a:solidFill>
                <a:latin typeface="Calibri"/>
              </a:defRPr>
            </a:pPr>
            <a:r>
              <a:t>    0: 'person',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FF8C32"/>
                </a:solidFill>
                <a:latin typeface="Calibri"/>
              </a:defRPr>
            </a:pPr>
            <a:r>
              <a:t>    2: 'car',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3DE08E"/>
                </a:solidFill>
                <a:latin typeface="Calibri"/>
              </a:defRPr>
            </a:pPr>
            <a:r>
              <a:t>    4: 'airplane',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B06AF0"/>
                </a:solidFill>
                <a:latin typeface="Calibri"/>
              </a:defRPr>
            </a:pPr>
            <a:r>
              <a:t>    5: 'bus',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F05555"/>
                </a:solidFill>
                <a:latin typeface="Calibri"/>
              </a:defRPr>
            </a:pPr>
            <a:r>
              <a:t>    7: 'truck',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results = model(frame, conf=0.5,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1">
                <a:solidFill>
                  <a:srgbClr val="FFD93D"/>
                </a:solidFill>
                <a:latin typeface="Calibri"/>
              </a:defRPr>
            </a:pPr>
            <a:r>
              <a:t>    classes=list(AIRPORT_CLASSES.keys()))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97680"/>
            <a:ext cx="530352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389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C4B2"/>
                </a:solidFill>
                <a:latin typeface="Calibri"/>
              </a:defRPr>
            </a:pPr>
            <a:r>
              <a:t>Speed Tip: Skip Frames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Running YOLO on every frame is slow. For our project,</a:t>
            </a:r>
            <a:br/>
            <a:r>
              <a:t>detecting every 5th frame is enough: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03520"/>
            <a:ext cx="4754880" cy="10058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3492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frame_count = 0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while True: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    ret, frame = cap.read()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    frame_count += 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1">
                <a:solidFill>
                  <a:srgbClr val="3DE08E"/>
                </a:solidFill>
                <a:latin typeface="Calibri"/>
              </a:defRPr>
            </a:pPr>
            <a:r>
              <a:t>    if frame_count % 5 == 0:  # every 5th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3DE08E"/>
                </a:solidFill>
                <a:latin typeface="Calibri"/>
              </a:defRPr>
            </a:pPr>
            <a:r>
              <a:t>        results = model(frame, conf=0.5)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Custom Training — Teaching YOLO New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When pre-trained COCO classes aren't enough for your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02920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555"/>
                </a:solidFill>
                <a:latin typeface="Calibri"/>
              </a:defRPr>
            </a:pPr>
            <a:r>
              <a:t>Airport Objects — COCO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Airplane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783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DE08E"/>
                </a:solidFill>
                <a:latin typeface="Calibri"/>
              </a:defRPr>
            </a:pPr>
            <a:r>
              <a:t>✓ In COCO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83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Pre-trained detects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756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Truck (generic)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0756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2"/>
                </a:solidFill>
                <a:latin typeface="Calibri"/>
              </a:defRPr>
            </a:pPr>
            <a:r>
              <a:t>✓ In COCO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756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Detected, but can't distinguish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682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3682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DE08E"/>
                </a:solidFill>
                <a:latin typeface="Calibri"/>
              </a:defRPr>
            </a:pPr>
            <a:r>
              <a:t>✓ In COCO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36829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Ground crew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609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Jet bridge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6609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5555"/>
                </a:solidFill>
                <a:latin typeface="Calibri"/>
              </a:defRPr>
            </a:pPr>
            <a:r>
              <a:t>✗ NOT in COCO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66090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Needs custom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53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Fuel truck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953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5555"/>
                </a:solidFill>
                <a:latin typeface="Calibri"/>
              </a:defRPr>
            </a:pPr>
            <a:r>
              <a:t>✗ NOT in COCO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9535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Needs custom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46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Baggage cart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246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5555"/>
                </a:solidFill>
                <a:latin typeface="Calibri"/>
              </a:defRPr>
            </a:pPr>
            <a:r>
              <a:t>✗ NOT in COCO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246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Needs custom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38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Pushback tug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3538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5555"/>
                </a:solidFill>
                <a:latin typeface="Calibri"/>
              </a:defRPr>
            </a:pPr>
            <a:r>
              <a:t>✗ NOT in COCO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5387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Needs custom training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1280160"/>
            <a:ext cx="594360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1371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Custom Training 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1828800"/>
            <a:ext cx="1737360" cy="7772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1828800"/>
            <a:ext cx="17373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89320" y="192024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874519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Collect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Extract video frames</a:t>
            </a:r>
            <a:br/>
            <a:r>
              <a:t>+ find online images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0" y="1828800"/>
            <a:ext cx="1737360" cy="7772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63840" y="1828800"/>
            <a:ext cx="173736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09560" y="1920240"/>
            <a:ext cx="274320" cy="27432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1874519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2"/>
                </a:solidFill>
                <a:latin typeface="Calibri"/>
              </a:defRPr>
            </a:pPr>
            <a:r>
              <a:t>Annotate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Draw bounding boxes</a:t>
            </a:r>
            <a:br/>
            <a:r>
              <a:t>(Roboflow/LabelImg)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1828800"/>
            <a:ext cx="1737360" cy="7772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84080" y="1828800"/>
            <a:ext cx="173736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829800" y="1920240"/>
            <a:ext cx="274320" cy="27432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1874519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Organize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train/val/test splits</a:t>
            </a:r>
            <a:br/>
            <a:r>
              <a:t>+ data.yaml config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0" y="2743200"/>
            <a:ext cx="1737360" cy="7772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2743200"/>
            <a:ext cx="173736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89320" y="2834640"/>
            <a:ext cx="274320" cy="27432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27889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6AF0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017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model.train(data=...)</a:t>
            </a:r>
            <a:br/>
            <a:r>
              <a:t>transfer learning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63840" y="2743200"/>
            <a:ext cx="1737360" cy="7772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63840" y="2743200"/>
            <a:ext cx="173736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909560" y="2834640"/>
            <a:ext cx="274320" cy="27432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27889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3017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mAP, precision, recall</a:t>
            </a:r>
            <a:br/>
            <a:r>
              <a:t>on validation set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84080" y="2743200"/>
            <a:ext cx="1737360" cy="7772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84080" y="2743200"/>
            <a:ext cx="173736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829800" y="2834640"/>
            <a:ext cx="274320" cy="27432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27889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93D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3017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Use best.pt for</a:t>
            </a:r>
            <a:br/>
            <a:r>
              <a:t>inference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297680"/>
            <a:ext cx="11247120" cy="237744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Transfer Learning — Why Start from Pre-Trained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7548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Training from scratch requires millions of images</a:t>
            </a:r>
            <a:br/>
            <a:r>
              <a:t>and weeks of GPU time.</a:t>
            </a:r>
            <a:br/>
            <a:br/>
            <a:r>
              <a:t>Transfer learning starts from a model that already</a:t>
            </a:r>
            <a:br/>
            <a:r>
              <a:t>understands visual features (edges, textures, shapes)</a:t>
            </a:r>
            <a:br/>
            <a:r>
              <a:t>and only needs to learn the new classes.</a:t>
            </a:r>
            <a:br/>
            <a:br/>
            <a:r>
              <a:t>Starting from yolo11m.pt, you only need</a:t>
            </a:r>
            <a:br/>
            <a:r>
              <a:t>~100 images per class to get good results!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4572000"/>
            <a:ext cx="5303520" cy="192024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46634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What Gets Transferred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675120" y="4983480"/>
            <a:ext cx="1097280" cy="8686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75120" y="4983480"/>
            <a:ext cx="10972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93407" y="5029200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4FF"/>
                </a:solidFill>
                <a:latin typeface="Calibri"/>
              </a:defRPr>
            </a:pPr>
            <a:r>
              <a:t>Conv 1-3</a:t>
            </a:r>
            <a:br/>
            <a:r>
              <a:t>Edges, textures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3407" y="5394960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0829E"/>
                </a:solidFill>
                <a:latin typeface="Calibri"/>
              </a:defRPr>
            </a:pPr>
            <a:r>
              <a:t>FROZEN</a:t>
            </a:r>
            <a:br/>
            <a:r>
              <a:t>(already learned)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845552" y="4983480"/>
            <a:ext cx="1097280" cy="8686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845552" y="4983480"/>
            <a:ext cx="109728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63840" y="5029200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DE08E"/>
                </a:solidFill>
                <a:latin typeface="Calibri"/>
              </a:defRPr>
            </a:pPr>
            <a:r>
              <a:t>Conv 4-6</a:t>
            </a:r>
            <a:br/>
            <a:r>
              <a:t>Patterns, shapes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63840" y="5394960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0829E"/>
                </a:solidFill>
                <a:latin typeface="Calibri"/>
              </a:defRPr>
            </a:pPr>
            <a:r>
              <a:t>FROZEN</a:t>
            </a:r>
            <a:br/>
            <a:r>
              <a:t>(already learned)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15984" y="4983480"/>
            <a:ext cx="1097280" cy="8686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015984" y="4983480"/>
            <a:ext cx="109728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34272" y="5029200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C32"/>
                </a:solidFill>
                <a:latin typeface="Calibri"/>
              </a:defRPr>
            </a:pPr>
            <a:r>
              <a:t>Conv 7+</a:t>
            </a:r>
            <a:br/>
            <a:r>
              <a:t>Object parts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34272" y="5394960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93D"/>
                </a:solidFill>
                <a:latin typeface="Calibri"/>
              </a:defRPr>
            </a:pPr>
            <a:r>
              <a:t>FINE-TUNED</a:t>
            </a:r>
            <a:br/>
            <a:r>
              <a:t>(adapted)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186416" y="4983480"/>
            <a:ext cx="1097280" cy="8686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186416" y="4983480"/>
            <a:ext cx="109728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04704" y="5029200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5555"/>
                </a:solidFill>
                <a:latin typeface="Calibri"/>
              </a:defRPr>
            </a:pPr>
            <a:r>
              <a:t>Head</a:t>
            </a:r>
            <a:br/>
            <a:r>
              <a:t>New classes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04704" y="5394960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93D"/>
                </a:solidFill>
                <a:latin typeface="Calibri"/>
              </a:defRPr>
            </a:pPr>
            <a:r>
              <a:t>TRAINED</a:t>
            </a:r>
            <a:br/>
            <a:r>
              <a:t>(from scratch)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Custom Training — Dataset &amp;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Organize your data, configure, train, evaluate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029200" cy="27432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Dataset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0D4FF"/>
                </a:solidFill>
                <a:latin typeface="Calibri"/>
              </a:defRPr>
            </a:pPr>
            <a:r>
              <a:t>dataset/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├── data.yaml          # config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FF8C32"/>
                </a:solidFill>
                <a:latin typeface="Calibri"/>
              </a:defRPr>
            </a:pPr>
            <a:r>
              <a:t>├── train/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│   ├── images/        # .jpg files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│   └── labels/        # .txt files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├── val/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│   ├── images/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│   └── labels/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F05555"/>
                </a:solidFill>
                <a:latin typeface="Calibri"/>
              </a:defRPr>
            </a:pPr>
            <a:r>
              <a:t>└── test/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├── images/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└── labels/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data.yaml: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train: train/images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val: val/images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FF8C32"/>
                </a:solidFill>
                <a:latin typeface="Calibri"/>
              </a:defRPr>
            </a:pPr>
            <a:r>
              <a:t>nc: 6  # number of classes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names: ['airplane','fuel_truck',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  'baggage','catering','jetbridge',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  'pushback']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280160"/>
            <a:ext cx="5943600" cy="27432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3716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Training &amp; Evaluation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64592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from ultralytics import YOLO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Start from pre-trained (transfer learning)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0D4FF"/>
                </a:solidFill>
                <a:latin typeface="Calibri"/>
              </a:defRPr>
            </a:pPr>
            <a:r>
              <a:t>model = YOLO('yolo11m.pt')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Train on custom dataset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results = model.train(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data='dataset/data.yaml',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epochs=100,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imgsz=640,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batch=16,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patience=20,   # early stopping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project='airport',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name='turnaround_v1'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Evaluate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metrics = model.val()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print(f'mAP50: {metrics.box.map50:.3f}')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Use your trained model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FFD93D"/>
                </a:solidFill>
                <a:latin typeface="Calibri"/>
              </a:defRPr>
            </a:pPr>
            <a:r>
              <a:t>best = YOLO('airport/turnaround_v1/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FFD93D"/>
                </a:solidFill>
                <a:latin typeface="Calibri"/>
              </a:defRPr>
            </a:pPr>
            <a:r>
              <a:t>             weights/best.pt')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1124712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YOLO Annotation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Each image gets a .txt file with one line per object.</a:t>
            </a:r>
            <a:br/>
            <a:r>
              <a:t>All values are normalized (0 to 1):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5029200" cy="10058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class_id  center_x  center_y  width  height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0  0.50  0.40  0.30  0.20   ← airplane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1  0.20  0.70  0.10  0.15   ← fuel_truck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2  0.80  0.65  0.08  0.12   ← baggage_cart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97680"/>
            <a:ext cx="521208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3891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06AF0"/>
                </a:solidFill>
                <a:latin typeface="Calibri"/>
              </a:defRPr>
            </a:pPr>
            <a:r>
              <a:t>Annotation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754880"/>
            <a:ext cx="4663440" cy="5486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4754880"/>
            <a:ext cx="36576" cy="54864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7823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Roboflow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7823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Free tier. Web-based. Auto-exports</a:t>
            </a:r>
            <a:br/>
            <a:r>
              <a:t>YOLO format. Smart annotation assists.</a:t>
            </a:r>
            <a:br/>
            <a:r>
              <a:t>roboflow.com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5394960"/>
            <a:ext cx="4663440" cy="5486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5394960"/>
            <a:ext cx="36576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4223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LabelImg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4223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Open-source desktop tool.</a:t>
            </a:r>
            <a:br/>
            <a:r>
              <a:t>pip install labelImg</a:t>
            </a:r>
            <a:br/>
            <a:r>
              <a:t>Simple bounding box annotation.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6035040"/>
            <a:ext cx="4663440" cy="5486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6035040"/>
            <a:ext cx="36576" cy="54864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606247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2"/>
                </a:solidFill>
                <a:latin typeface="Calibri"/>
              </a:defRPr>
            </a:pPr>
            <a:r>
              <a:t>CVAT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60624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Intel's annotation tool. Self-hosted</a:t>
            </a:r>
            <a:br/>
            <a:r>
              <a:t>or cloud. Best for teams.</a:t>
            </a:r>
            <a:br/>
            <a:r>
              <a:t>cvat.ai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Turnaround Pipeline — Full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Combining everything from Days 1-4 into one working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618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Video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216152"/>
            <a:ext cx="3840480" cy="411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280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VideoCapture → frames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Day 3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1691640"/>
            <a:ext cx="36576" cy="219456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1892808"/>
            <a:ext cx="411480" cy="41148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202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YOLO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1874520"/>
            <a:ext cx="3840480" cy="411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19385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Detect airplane, trucks, 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938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Day 4 — every 5th frame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350008"/>
            <a:ext cx="36576" cy="219456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2551176"/>
            <a:ext cx="411480" cy="41148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5786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Background Sub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2532888"/>
            <a:ext cx="3840480" cy="411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25968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MOG2 foreground mask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5968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Day 3 — every frame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3008376"/>
            <a:ext cx="36576" cy="219456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40" y="3209544"/>
            <a:ext cx="411480" cy="41148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2369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6AF0"/>
                </a:solidFill>
                <a:latin typeface="Calibri"/>
              </a:defRPr>
            </a:pPr>
            <a:r>
              <a:t>Zone 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3191256"/>
            <a:ext cx="3840480" cy="411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32552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Map detections to tarmac zones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2552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Day 3 zones + Day 4 labels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3666744"/>
            <a:ext cx="36576" cy="219456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8640" y="3867912"/>
            <a:ext cx="411480" cy="41148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8953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5555"/>
                </a:solidFill>
                <a:latin typeface="Calibri"/>
              </a:defRPr>
            </a:pPr>
            <a:r>
              <a:t>DeepSORT Track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4640" y="3849624"/>
            <a:ext cx="3840480" cy="411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391363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Persistent IDs for each object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913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Day 3 tracking + Day 4 identity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4325112"/>
            <a:ext cx="36576" cy="219456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8640" y="4526279"/>
            <a:ext cx="411480" cy="4114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5537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Calibri"/>
              </a:defRPr>
            </a:pPr>
            <a:r>
              <a:t>Event Detection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4640" y="4507992"/>
            <a:ext cx="3840480" cy="411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457199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Log turnaround events + times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5719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Arrival → servicing → departure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4983479"/>
            <a:ext cx="36576" cy="219456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8640" y="5184648"/>
            <a:ext cx="411480" cy="411480"/>
          </a:xfrm>
          <a:prstGeom prst="ellipse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2120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C4B2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34640" y="5166360"/>
            <a:ext cx="3840480" cy="411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71800" y="52303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Calculate turnaround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Final output with timestamps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6035040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6035040"/>
            <a:ext cx="11247120" cy="45720"/>
          </a:xfrm>
          <a:prstGeom prst="rect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608076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6AB0"/>
                </a:solidFill>
                <a:latin typeface="Calibri"/>
              </a:defRPr>
            </a:pPr>
            <a:r>
              <a:t>Four Days of Building Blocks → One Pipeline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3093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alibri"/>
              </a:defRPr>
            </a:pPr>
            <a:r>
              <a:t>Day 1: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" y="63093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Preprocess (grayscale, blur, resize)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63093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DE08E"/>
                </a:solidFill>
                <a:latin typeface="Calibri"/>
              </a:defRPr>
            </a:pPr>
            <a:r>
              <a:t>Day 2: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7639" y="63093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Extract structure (edges, contours, features)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63093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2"/>
                </a:solidFill>
                <a:latin typeface="Calibri"/>
              </a:defRPr>
            </a:pPr>
            <a:r>
              <a:t>Day 3: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63093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Motion + tracking (BG sub, optical flow, DeepSORT)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63093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5555"/>
                </a:solidFill>
                <a:latin typeface="Calibri"/>
              </a:defRPr>
            </a:pPr>
            <a:r>
              <a:t>Day 4: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63093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Intelligence (YOLO detection, classification, events)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6b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Pipeline Code — TurnaroundAnalyzer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Core initialization and frame analysis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5303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Class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0D4FF"/>
                </a:solidFill>
                <a:latin typeface="Calibri"/>
              </a:defRPr>
            </a:pPr>
            <a:r>
              <a:t>class TurnaroundAnalyzer: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def __init__(self, video_path):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self.cap = cv2.VideoCapture(video_path)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self.fps = self.cap.get(CAP_PROP_FPS)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    self.model = YOLO('yolo11m.pt')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    self.bg_sub = cv2.create..MOG2(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        history=500, varThreshold=50)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self.kernel = getStructuringElement(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    MORPH_ELLIPSE, (5,5))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self.events = []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self.motion_history = []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0D4FF"/>
                </a:solidFill>
                <a:latin typeface="Calibri"/>
              </a:defRPr>
            </a:pPr>
            <a:r>
              <a:t>  def analyze_frame(self, frame):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self.frame_count += 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time = self.frame_count / self.fps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    # YOLO every 5th frame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detections = []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    if self.frame_count % 5 == 0: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      results = self.model(frame,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          conf=0.4, classes=[0,2,4,5,7])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      # parse results...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5303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Background Sub +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    # Background subtraction (every frame)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    fg = self.bg_sub.apply(frame)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_, fg = cv2.threshold(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    fg, 250, 255, THRESH_BINARY)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B06AF0"/>
                </a:solidFill>
                <a:latin typeface="Calibri"/>
              </a:defRPr>
            </a:pPr>
            <a:r>
              <a:t>    fg = morphologyEx(fg, OPEN, self.kernel)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B06AF0"/>
                </a:solidFill>
                <a:latin typeface="Calibri"/>
              </a:defRPr>
            </a:pPr>
            <a:r>
              <a:t>    fg = morphologyEx(fg, CLOSE, self.kernel)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    # Motion level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    motion = np.sum(fg&gt;0)/fg.size*100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    # Event detection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airplane = [d for d in dets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           if d['class']=='airplane']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05555"/>
                </a:solidFill>
                <a:latin typeface="Calibri"/>
              </a:defRPr>
            </a:pPr>
            <a:r>
              <a:t>    if airplane and not self.arrived: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05555"/>
                </a:solidFill>
                <a:latin typeface="Calibri"/>
              </a:defRPr>
            </a:pPr>
            <a:r>
              <a:t>      self.events.append({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    'time': time,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    'event': 'Aircraft at gate'})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    # Check for departure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D93D"/>
                </a:solidFill>
                <a:latin typeface="Calibri"/>
              </a:defRPr>
            </a:pPr>
            <a:r>
              <a:t>    if motion &gt; 15 and self.servicing_done: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D93D"/>
                </a:solidFill>
                <a:latin typeface="Calibri"/>
              </a:defRPr>
            </a:pPr>
            <a:r>
              <a:t>      self.events.append({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    'time': time,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D93D"/>
                </a:solidFill>
                <a:latin typeface="Calibri"/>
              </a:defRPr>
            </a:pPr>
            <a:r>
              <a:t>        'event': 'Pushback detected'})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    return detections, fg, motion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Performance Optimization — Speed &amp;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Practical techniques to make your pipeline faster and better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Speed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12064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36576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105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Skip frames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1856231"/>
            <a:ext cx="118872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1856231"/>
            <a:ext cx="891540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6140" y="1819655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4FF"/>
                </a:solidFill>
                <a:latin typeface="Calibri"/>
              </a:defRPr>
            </a:pPr>
            <a:r>
              <a:t>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81051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5-10×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8105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if frame_count % 5 ==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039112"/>
            <a:ext cx="493776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048255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if frame_count % 5 ==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350008"/>
            <a:ext cx="512064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350008"/>
            <a:ext cx="36576" cy="475488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377439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2"/>
                </a:solidFill>
                <a:latin typeface="Calibri"/>
              </a:defRPr>
            </a:pPr>
            <a:r>
              <a:t>Smaller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2423160"/>
            <a:ext cx="118872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0" y="2423160"/>
            <a:ext cx="475488" cy="1371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0088" y="238658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32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377439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2-4×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377439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model(frame, imgsz=320)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606039"/>
            <a:ext cx="493776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615184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model(frame, imgsz=320)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916936"/>
            <a:ext cx="512064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2916936"/>
            <a:ext cx="36576" cy="475488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29443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Smaller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2990088"/>
            <a:ext cx="118872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68880" y="2990088"/>
            <a:ext cx="356616" cy="1371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71216" y="295351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E08E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29443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DE08E"/>
                </a:solidFill>
                <a:latin typeface="Calibri"/>
              </a:defRPr>
            </a:pPr>
            <a:r>
              <a:t>2-3×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294436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Use yolo11n.pt (Nano)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172968"/>
            <a:ext cx="493776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182112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Use yolo11n.pt (Nano)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483863"/>
            <a:ext cx="512064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3483863"/>
            <a:ext cx="36576" cy="475488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511295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6AF0"/>
                </a:solidFill>
                <a:latin typeface="Calibri"/>
              </a:defRPr>
            </a:pPr>
            <a:r>
              <a:t>GPU acceleration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3557015"/>
            <a:ext cx="118872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68880" y="3557015"/>
            <a:ext cx="1129284" cy="13716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43884" y="3520439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06AF0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3511295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06AF0"/>
                </a:solidFill>
                <a:latin typeface="Calibri"/>
              </a:defRPr>
            </a:pPr>
            <a:r>
              <a:t>10-50×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3511295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model(frame, device='cuda:0')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3739896"/>
            <a:ext cx="493776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3749039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model(frame, device='cuda:0')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050791"/>
            <a:ext cx="512064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" y="4050791"/>
            <a:ext cx="36576" cy="475488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407822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Calibri"/>
              </a:defRPr>
            </a:pPr>
            <a:r>
              <a:t>Half precision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68880" y="4123944"/>
            <a:ext cx="118872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468880" y="4123944"/>
            <a:ext cx="237744" cy="1371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52344" y="408736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5555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407822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555"/>
                </a:solidFill>
                <a:latin typeface="Calibri"/>
              </a:defRPr>
            </a:pPr>
            <a:r>
              <a:t>1.5-2×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407822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model(frame, half=True) on GPU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4306824"/>
            <a:ext cx="493776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4315968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model(frame, half=True) on GPU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4617720"/>
            <a:ext cx="512064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" y="4617720"/>
            <a:ext cx="36576" cy="47548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6451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93D"/>
                </a:solidFill>
                <a:latin typeface="Calibri"/>
              </a:defRPr>
            </a:pPr>
            <a:r>
              <a:t>Batch processing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68880" y="4690872"/>
            <a:ext cx="118872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468880" y="4690872"/>
            <a:ext cx="356616" cy="13716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71216" y="46542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D93D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39" y="464515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93D"/>
                </a:solidFill>
                <a:latin typeface="Calibri"/>
              </a:defRPr>
            </a:pPr>
            <a:r>
              <a:t>2-3×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89120" y="464515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Process multiple frames at once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4873752"/>
            <a:ext cx="493776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4882896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Process multiple frames at once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0" y="1280160"/>
            <a:ext cx="530352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Accuracy Optimization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0" y="1783080"/>
            <a:ext cx="493776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83680" y="1783080"/>
            <a:ext cx="36576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66560" y="18105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Higher confidence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80" y="181051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Fewer false positives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675120" y="2039112"/>
            <a:ext cx="475488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66560" y="2048255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model(frame, conf=0.6)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583680" y="2350008"/>
            <a:ext cx="493776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3680" y="2350008"/>
            <a:ext cx="36576" cy="475488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66560" y="2377439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2"/>
                </a:solidFill>
                <a:latin typeface="Calibri"/>
              </a:defRPr>
            </a:pPr>
            <a:r>
              <a:t>Class filtering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2377439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Remove irrelevant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675120" y="2606039"/>
            <a:ext cx="475488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66560" y="2615184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classes=[0, 2, 4, 7]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583680" y="2916936"/>
            <a:ext cx="493776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83680" y="2916936"/>
            <a:ext cx="36576" cy="475488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66560" y="29443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Larger input size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80" y="29443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Better small objects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675120" y="3172968"/>
            <a:ext cx="475488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766560" y="318211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model(frame, imgsz=1280)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583680" y="3483863"/>
            <a:ext cx="493776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583680" y="3483863"/>
            <a:ext cx="36576" cy="475488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66560" y="3511295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6AF0"/>
                </a:solidFill>
                <a:latin typeface="Calibri"/>
              </a:defRPr>
            </a:pPr>
            <a:r>
              <a:t>Larger model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12480" y="3511295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Higher mAP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75120" y="3739896"/>
            <a:ext cx="475488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766560" y="3749039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Use yolo11l.pt or yolo11x.pt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83680" y="4050791"/>
            <a:ext cx="493776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583680" y="4050791"/>
            <a:ext cx="36576" cy="475488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66560" y="407822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Calibri"/>
              </a:defRPr>
            </a:pPr>
            <a:r>
              <a:t>Custom training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12480" y="407822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Domain accuracy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675120" y="4306824"/>
            <a:ext cx="475488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766560" y="431596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Train on airport images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583680" y="4617720"/>
            <a:ext cx="4937760" cy="47548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583680" y="4617720"/>
            <a:ext cx="36576" cy="47548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766560" y="46451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93D"/>
                </a:solidFill>
                <a:latin typeface="Calibri"/>
              </a:defRPr>
            </a:pPr>
            <a:r>
              <a:t>Test-time augment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12480" y="464515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1-2% mAP boost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675120" y="4873752"/>
            <a:ext cx="4754880" cy="1828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766560" y="4882896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D6E5"/>
                </a:solidFill>
                <a:latin typeface="Calibri"/>
              </a:defRPr>
            </a:pPr>
            <a:r>
              <a:t>model(frame, augment=True)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Real-World Airport CV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Computer vision is already revolutionizing ground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66928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32"/>
                </a:solidFill>
                <a:latin typeface="Calibri"/>
              </a:defRPr>
            </a:pPr>
            <a:r>
              <a:t>Assaia ApronAI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Deployed at 20+ airports, 168+ airlines globally.</a:t>
            </a:r>
            <a:br/>
            <a:r>
              <a:t>Cameras at each gate auto-detect ground events.</a:t>
            </a:r>
            <a:br/>
            <a:br/>
            <a:r>
              <a:t>Results:</a:t>
            </a:r>
            <a:br/>
            <a:r>
              <a:t>• Alaska Airlines: 17% increase in on-time performance</a:t>
            </a:r>
            <a:br/>
            <a:r>
              <a:t>• Toronto Pearson: 3.4 min less ground delay per flight</a:t>
            </a:r>
            <a:br/>
            <a:r>
              <a:t>• Real-time alerts for operational deviations</a:t>
            </a:r>
            <a:br/>
            <a:r>
              <a:t>• Predicts departure readiness in advance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530352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530352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17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E08E"/>
                </a:solidFill>
                <a:latin typeface="Calibri"/>
              </a:defRPr>
            </a:pPr>
            <a:r>
              <a:t>Schiphol Deep Turnaround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7830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Amsterdam Airport's camera-based system.</a:t>
            </a:r>
            <a:br/>
            <a:r>
              <a:t>Detects when ground handling starts and stops.</a:t>
            </a:r>
            <a:br/>
            <a:br/>
            <a:r>
              <a:t>Capabilities:</a:t>
            </a:r>
            <a:br/>
            <a:r>
              <a:t>• Predicts aircraft departure readiness</a:t>
            </a:r>
            <a:br/>
            <a:r>
              <a:t>• Enables proactive delay prevention</a:t>
            </a:r>
            <a:br/>
            <a:r>
              <a:t>• Time error &lt; 60 seconds (A-CDM standard)</a:t>
            </a:r>
            <a:br/>
            <a:r>
              <a:t>• Integrates with airline ops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1124712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Our Project vs Production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Aspect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2976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Our Course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2976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Production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10607040" cy="4572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Cameras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526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Single video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526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4-8 cameras per gate, 24/7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006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006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Pre-trained YOLO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006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Custom-trained on millions of 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0749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Good enough to demonstrate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0749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Must meet A-CDM (&lt;60s error)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492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3492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Offline processing 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3492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Real-time (30+ FPS minimum)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6235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Your laptop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6235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Edge GPU + cloud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97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897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Console report + print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897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API integration with airline ops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217920"/>
            <a:ext cx="10607040" cy="3200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6245352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93D"/>
                </a:solidFill>
                <a:latin typeface="Calibri"/>
              </a:defRPr>
            </a:pPr>
            <a:r>
              <a:t>Your project demonstrates the same fundamental approach used by these multi-million dollar systems!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Day 4 —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713232"/>
            <a:ext cx="228600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4864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78992"/>
            <a:ext cx="347472" cy="34747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024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Classical CV detects motion; DL identifies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9844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Combined: 'something moved' + 'it's a fuel truck.' Both needed for the project.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19072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19072"/>
            <a:ext cx="54864" cy="5943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1792224"/>
            <a:ext cx="347472" cy="347472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737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2"/>
                </a:solidFill>
                <a:latin typeface="Calibri"/>
              </a:defRPr>
            </a:pPr>
            <a:r>
              <a:t>YOLO processes entire image in one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Grid prediction → all detections at once. That's why it's fast enough for real-time video.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32304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32304"/>
            <a:ext cx="54864" cy="5943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2505456"/>
            <a:ext cx="347472" cy="347472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4505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E08E"/>
                </a:solidFill>
                <a:latin typeface="Calibri"/>
              </a:defRPr>
            </a:pPr>
            <a:r>
              <a:t>Pre-trained YOLO knows 80 COCO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72491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airplane, truck, car, person, bus are built-in. Jet bridge, fuel truck need custom training.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45536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45536"/>
            <a:ext cx="54864" cy="59436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218688"/>
            <a:ext cx="347472" cy="347472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1638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6AF0"/>
                </a:solidFill>
                <a:latin typeface="Calibri"/>
              </a:defRPr>
            </a:pPr>
            <a:r>
              <a:t>Transfer learning: ~100 images per class is enough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3814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Start from yolo11m.pt → only teach new classes. Saves weeks of training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58768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58768"/>
            <a:ext cx="54864" cy="5943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931920"/>
            <a:ext cx="347472" cy="347472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87705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5555"/>
                </a:solidFill>
                <a:latin typeface="Calibri"/>
              </a:defRPr>
            </a:pPr>
            <a:r>
              <a:t>Ultralytics API: 3 lines for full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151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model = YOLO('yolo11m.pt')  →  results = model(image)  →  results[0].plot()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72000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54864" cy="59436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4645152"/>
            <a:ext cx="347472" cy="347472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Calibri"/>
              </a:defRPr>
            </a:pPr>
            <a:r>
              <a:t>YOLO + DeepSORT = persistent tracked identities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86460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YOLO detects per-frame, DeepSORT maintains identity across frames. No ID swaps.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285231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285231"/>
            <a:ext cx="54864" cy="594360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" y="5358383"/>
            <a:ext cx="347472" cy="347472"/>
          </a:xfrm>
          <a:prstGeom prst="ellipse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30351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4B2"/>
                </a:solidFill>
                <a:latin typeface="Calibri"/>
              </a:defRPr>
            </a:pPr>
            <a:r>
              <a:t>Your pipeline combines all 4 days of techniques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55778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Preprocess (D1) → Features (D2) → Motion+Track (D3) → Detection+Events (D4) = turnaround 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Project Submission — What You Need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713232"/>
            <a:ext cx="228600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66928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DE08E"/>
                </a:solidFill>
                <a:latin typeface="Calibri"/>
              </a:defRPr>
            </a:pPr>
            <a:r>
              <a:t>Minimum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20640" cy="4114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36576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46504"/>
            <a:ext cx="256032" cy="25603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099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Read and process Airplane_Video.mp4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89280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Video I/O from Day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94560"/>
            <a:ext cx="5120640" cy="4114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194560"/>
            <a:ext cx="36576" cy="41148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2249424"/>
            <a:ext cx="256032" cy="256032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1284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Detect when aircraft arrives at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39572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Motion analysis or YOLO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97480"/>
            <a:ext cx="5120640" cy="4114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697480"/>
            <a:ext cx="36576" cy="41148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2752344"/>
            <a:ext cx="256032" cy="256032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7157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Detect when aircraft departs (pushback)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89864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Motion spike or YOLO +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00400"/>
            <a:ext cx="5120640" cy="4114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200400"/>
            <a:ext cx="36576" cy="41148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3255264"/>
            <a:ext cx="256032" cy="256032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21868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Calculate and display turnaround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40156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departure_time - arrival_time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188720"/>
            <a:ext cx="530352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280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Stretch Goals (Bonus Points)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1691640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16916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Detect individual activities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16916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fueling, baggage, catering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148840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1488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Annotated output video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1488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Bounding boxes + labels on 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606040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DE08E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26060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Visual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6060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Matplotlib chart of activity over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063240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06AF0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063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6AF0"/>
                </a:solidFill>
                <a:latin typeface="Calibri"/>
              </a:defRPr>
            </a:pPr>
            <a:r>
              <a:t>Web interface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063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Streamlit or Gradio for upload + analyze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520440"/>
            <a:ext cx="137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555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520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5555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3520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FastAPI endpoint for video analysis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160520"/>
            <a:ext cx="11247120" cy="12801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06AF0"/>
                </a:solidFill>
                <a:latin typeface="Calibri"/>
              </a:defRPr>
            </a:pPr>
            <a:r>
              <a:t>Choose Your Approach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4663440"/>
            <a:ext cx="3520440" cy="685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4663440"/>
            <a:ext cx="352044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19" y="4709160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Option A: Classical CV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19" y="4937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Days 1-3 techniques</a:t>
            </a:r>
            <a:br/>
            <a:r>
              <a:t>BG sub + zones + motion timeline</a:t>
            </a:r>
            <a:br/>
            <a:r>
              <a:t>Simpler, no DL needed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89120" y="4663440"/>
            <a:ext cx="3520440" cy="685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89120" y="4663440"/>
            <a:ext cx="352044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59" y="4709160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2"/>
                </a:solidFill>
                <a:latin typeface="Calibri"/>
              </a:defRPr>
            </a:pPr>
            <a:r>
              <a:t>Option B: DL + Classical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59" y="4937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Days 1-4 techniques</a:t>
            </a:r>
            <a:br/>
            <a:r>
              <a:t>YOLO + DeepSORT + zones</a:t>
            </a:r>
            <a:br/>
            <a:r>
              <a:t>More accurate, needs GPU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38159" y="4663440"/>
            <a:ext cx="3520440" cy="685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38159" y="4663440"/>
            <a:ext cx="352044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599" y="4709160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Option C: Hybrid (Recommended)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599" y="4937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Classical for motion/zones</a:t>
            </a:r>
            <a:br/>
            <a:r>
              <a:t>YOLO on key frames only</a:t>
            </a:r>
            <a:br/>
            <a:r>
              <a:t>Best of both worlds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669280"/>
            <a:ext cx="11247120" cy="10058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760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C4B2"/>
                </a:solidFill>
                <a:latin typeface="Calibri"/>
              </a:defRPr>
            </a:pPr>
            <a:r>
              <a:t>Repository Structure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989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 b="1">
                <a:solidFill>
                  <a:srgbClr val="2DC4B2"/>
                </a:solidFill>
                <a:latin typeface="Calibri"/>
              </a:defRPr>
            </a:pPr>
            <a:r>
              <a:t>your-submission/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├── README.md          # approach + results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├── requirements.txt   # dependencies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00D4FF"/>
                </a:solidFill>
                <a:latin typeface="Calibri"/>
              </a:defRPr>
            </a:pPr>
            <a:r>
              <a:t>├── src/main.py        # entry point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5989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FF8C32"/>
                </a:solidFill>
                <a:latin typeface="Calibri"/>
              </a:defRPr>
            </a:pPr>
            <a:r>
              <a:t>├── src/detector.py    # detection logic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3DE08E"/>
                </a:solidFill>
                <a:latin typeface="Calibri"/>
              </a:defRPr>
            </a:pPr>
            <a:r>
              <a:t>├── src/tracker.py     # tracking logic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├── config/config.yaml # parameters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FFD93D"/>
                </a:solidFill>
                <a:latin typeface="Calibri"/>
              </a:defRPr>
            </a:pPr>
            <a:r>
              <a:t>└── output/report.txt  # generated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