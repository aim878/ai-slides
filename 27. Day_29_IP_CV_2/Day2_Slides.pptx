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32"/>
                </a:solidFill>
                <a:latin typeface="Calibri"/>
              </a:defRPr>
            </a:pPr>
            <a:r>
              <a:t>DAY 2  |  COMPUTER VISION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Edge Detection, Contours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8C32"/>
                </a:solidFill>
                <a:latin typeface="Calibri"/>
              </a:defRPr>
            </a:pPr>
            <a:r>
              <a:t>&amp; Feature Extraction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743200"/>
            <a:ext cx="484632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0829E"/>
                </a:solidFill>
                <a:latin typeface="Calibri"/>
              </a:defRPr>
            </a:pPr>
            <a:r>
              <a:t>Extracting structure, boundaries, and matchable keypoints from raw pixel data</a:t>
            </a:r>
          </a:p>
        </p:txBody>
      </p:sp>
      <p:sp>
        <p:nvSpPr>
          <p:cNvPr id="9" name="Chevron 8"/>
          <p:cNvSpPr/>
          <p:nvPr/>
        </p:nvSpPr>
        <p:spPr>
          <a:xfrm>
            <a:off x="457200" y="3749039"/>
            <a:ext cx="1783080" cy="640080"/>
          </a:xfrm>
          <a:prstGeom prst="chevron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C18"/>
                </a:solidFill>
                <a:latin typeface="Calibri"/>
              </a:defRPr>
            </a:pPr>
            <a:r>
              <a:t>THRESHOLD</a:t>
            </a:r>
          </a:p>
        </p:txBody>
      </p:sp>
      <p:sp>
        <p:nvSpPr>
          <p:cNvPr id="11" name="Chevron 10"/>
          <p:cNvSpPr/>
          <p:nvPr/>
        </p:nvSpPr>
        <p:spPr>
          <a:xfrm>
            <a:off x="2377440" y="3749039"/>
            <a:ext cx="1783080" cy="640080"/>
          </a:xfrm>
          <a:prstGeom prst="chevron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37947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C18"/>
                </a:solidFill>
                <a:latin typeface="Calibri"/>
              </a:defRPr>
            </a:pPr>
            <a:r>
              <a:t>GRADIENTS</a:t>
            </a:r>
          </a:p>
        </p:txBody>
      </p:sp>
      <p:sp>
        <p:nvSpPr>
          <p:cNvPr id="13" name="Chevron 12"/>
          <p:cNvSpPr/>
          <p:nvPr/>
        </p:nvSpPr>
        <p:spPr>
          <a:xfrm>
            <a:off x="4297680" y="3749039"/>
            <a:ext cx="1783080" cy="640080"/>
          </a:xfrm>
          <a:prstGeom prst="chevron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7947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C18"/>
                </a:solidFill>
                <a:latin typeface="Calibri"/>
              </a:defRPr>
            </a:pPr>
            <a:r>
              <a:t>CANNY</a:t>
            </a:r>
            <a:br/>
            <a:r>
              <a:t>EDGES</a:t>
            </a:r>
          </a:p>
        </p:txBody>
      </p:sp>
      <p:sp>
        <p:nvSpPr>
          <p:cNvPr id="15" name="Chevron 14"/>
          <p:cNvSpPr/>
          <p:nvPr/>
        </p:nvSpPr>
        <p:spPr>
          <a:xfrm>
            <a:off x="6217920" y="3749039"/>
            <a:ext cx="1783080" cy="640080"/>
          </a:xfrm>
          <a:prstGeom prst="chevron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7947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C18"/>
                </a:solidFill>
                <a:latin typeface="Calibri"/>
              </a:defRPr>
            </a:pPr>
            <a:r>
              <a:t>MORPHOLOGY</a:t>
            </a:r>
          </a:p>
        </p:txBody>
      </p:sp>
      <p:sp>
        <p:nvSpPr>
          <p:cNvPr id="17" name="Chevron 16"/>
          <p:cNvSpPr/>
          <p:nvPr/>
        </p:nvSpPr>
        <p:spPr>
          <a:xfrm>
            <a:off x="8138160" y="3749039"/>
            <a:ext cx="1783080" cy="640080"/>
          </a:xfrm>
          <a:prstGeom prst="chevron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7947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C18"/>
                </a:solidFill>
                <a:latin typeface="Calibri"/>
              </a:defRPr>
            </a:pPr>
            <a:r>
              <a:t>CONTOURS</a:t>
            </a:r>
          </a:p>
        </p:txBody>
      </p:sp>
      <p:sp>
        <p:nvSpPr>
          <p:cNvPr id="19" name="Chevron 18"/>
          <p:cNvSpPr/>
          <p:nvPr/>
        </p:nvSpPr>
        <p:spPr>
          <a:xfrm>
            <a:off x="10058400" y="3749039"/>
            <a:ext cx="1783080" cy="640080"/>
          </a:xfrm>
          <a:prstGeom prst="chevron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37947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0C18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829E"/>
                </a:solidFill>
                <a:latin typeface="Calibri"/>
              </a:defRPr>
            </a:pPr>
            <a:r>
              <a:t>Today's Journey: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074920"/>
            <a:ext cx="2926080" cy="13716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0829E"/>
                </a:solidFill>
                <a:latin typeface="Calibri"/>
              </a:defRPr>
            </a:pPr>
            <a:r>
              <a:t>RAW 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440680"/>
            <a:ext cx="502920" cy="256032"/>
          </a:xfrm>
          <a:prstGeom prst="rect">
            <a:avLst/>
          </a:prstGeom>
          <a:solidFill>
            <a:srgbClr val="3C5078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20240" y="5440680"/>
            <a:ext cx="502920" cy="256032"/>
          </a:xfrm>
          <a:prstGeom prst="rect">
            <a:avLst/>
          </a:prstGeom>
          <a:solidFill>
            <a:srgbClr val="465A82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68880" y="5440680"/>
            <a:ext cx="502920" cy="256032"/>
          </a:xfrm>
          <a:prstGeom prst="rect">
            <a:avLst/>
          </a:prstGeom>
          <a:solidFill>
            <a:srgbClr val="8CA0B4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17520" y="5440680"/>
            <a:ext cx="502920" cy="256032"/>
          </a:xfrm>
          <a:prstGeom prst="rect">
            <a:avLst/>
          </a:prstGeom>
          <a:solidFill>
            <a:srgbClr val="C8D2DC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5733288"/>
            <a:ext cx="502920" cy="256032"/>
          </a:xfrm>
          <a:prstGeom prst="rect">
            <a:avLst/>
          </a:prstGeom>
          <a:solidFill>
            <a:srgbClr val="374B73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20240" y="5733288"/>
            <a:ext cx="502920" cy="256032"/>
          </a:xfrm>
          <a:prstGeom prst="rect">
            <a:avLst/>
          </a:prstGeom>
          <a:solidFill>
            <a:srgbClr val="41557D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68880" y="5733288"/>
            <a:ext cx="502920" cy="256032"/>
          </a:xfrm>
          <a:prstGeom prst="rect">
            <a:avLst/>
          </a:prstGeom>
          <a:solidFill>
            <a:srgbClr val="B4B4B4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5733288"/>
            <a:ext cx="502920" cy="256032"/>
          </a:xfrm>
          <a:prstGeom prst="rect">
            <a:avLst/>
          </a:prstGeom>
          <a:solidFill>
            <a:srgbClr val="DCE1E6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71600" y="6025896"/>
            <a:ext cx="502920" cy="256032"/>
          </a:xfrm>
          <a:prstGeom prst="rect">
            <a:avLst/>
          </a:prstGeom>
          <a:solidFill>
            <a:srgbClr val="283250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20240" y="6025896"/>
            <a:ext cx="502920" cy="256032"/>
          </a:xfrm>
          <a:prstGeom prst="rect">
            <a:avLst/>
          </a:prstGeom>
          <a:solidFill>
            <a:srgbClr val="2D3755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68880" y="6025896"/>
            <a:ext cx="502920" cy="256032"/>
          </a:xfrm>
          <a:prstGeom prst="rect">
            <a:avLst/>
          </a:prstGeom>
          <a:solidFill>
            <a:srgbClr val="788296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17520" y="6025896"/>
            <a:ext cx="502920" cy="256032"/>
          </a:xfrm>
          <a:prstGeom prst="rect">
            <a:avLst/>
          </a:prstGeom>
          <a:solidFill>
            <a:srgbClr val="BEC8D2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4206240" y="5577840"/>
            <a:ext cx="548640" cy="256032"/>
          </a:xfrm>
          <a:prstGeom prst="rightArrow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937760" y="5074920"/>
            <a:ext cx="2743200" cy="13716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5120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DE08E"/>
                </a:solidFill>
                <a:latin typeface="Calibri"/>
              </a:defRPr>
            </a:pPr>
            <a:r>
              <a:t>EDGES &amp; CONTOURS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5440680"/>
            <a:ext cx="457200" cy="182880"/>
          </a:xfrm>
          <a:prstGeom prst="rect">
            <a:avLst/>
          </a:prstGeom>
          <a:solidFill>
            <a:srgbClr val="080C18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15000" y="5440680"/>
            <a:ext cx="457200" cy="182880"/>
          </a:xfrm>
          <a:prstGeom prst="rect">
            <a:avLst/>
          </a:prstGeom>
          <a:solidFill>
            <a:srgbClr val="080C18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440680"/>
            <a:ext cx="457200" cy="182880"/>
          </a:xfrm>
          <a:prstGeom prst="rect">
            <a:avLst/>
          </a:prstGeom>
          <a:solidFill>
            <a:srgbClr val="3DE08E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20840" y="5440680"/>
            <a:ext cx="457200" cy="182880"/>
          </a:xfrm>
          <a:prstGeom prst="rect">
            <a:avLst/>
          </a:prstGeom>
          <a:solidFill>
            <a:srgbClr val="3DE08E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212080" y="5660136"/>
            <a:ext cx="457200" cy="182880"/>
          </a:xfrm>
          <a:prstGeom prst="rect">
            <a:avLst/>
          </a:prstGeom>
          <a:solidFill>
            <a:srgbClr val="080C18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15000" y="5660136"/>
            <a:ext cx="457200" cy="182880"/>
          </a:xfrm>
          <a:prstGeom prst="rect">
            <a:avLst/>
          </a:prstGeom>
          <a:solidFill>
            <a:srgbClr val="3DE08E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5660136"/>
            <a:ext cx="457200" cy="182880"/>
          </a:xfrm>
          <a:prstGeom prst="rect">
            <a:avLst/>
          </a:prstGeom>
          <a:solidFill>
            <a:srgbClr val="080C18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20840" y="5660136"/>
            <a:ext cx="457200" cy="182880"/>
          </a:xfrm>
          <a:prstGeom prst="rect">
            <a:avLst/>
          </a:prstGeom>
          <a:solidFill>
            <a:srgbClr val="080C18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12080" y="5879592"/>
            <a:ext cx="457200" cy="182880"/>
          </a:xfrm>
          <a:prstGeom prst="rect">
            <a:avLst/>
          </a:prstGeom>
          <a:solidFill>
            <a:srgbClr val="3DE08E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15000" y="5879592"/>
            <a:ext cx="457200" cy="182880"/>
          </a:xfrm>
          <a:prstGeom prst="rect">
            <a:avLst/>
          </a:prstGeom>
          <a:solidFill>
            <a:srgbClr val="080C18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5879592"/>
            <a:ext cx="457200" cy="182880"/>
          </a:xfrm>
          <a:prstGeom prst="rect">
            <a:avLst/>
          </a:prstGeom>
          <a:solidFill>
            <a:srgbClr val="080C18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20840" y="5879592"/>
            <a:ext cx="457200" cy="182880"/>
          </a:xfrm>
          <a:prstGeom prst="rect">
            <a:avLst/>
          </a:prstGeom>
          <a:solidFill>
            <a:srgbClr val="3DE08E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212080" y="6099048"/>
            <a:ext cx="457200" cy="182880"/>
          </a:xfrm>
          <a:prstGeom prst="rect">
            <a:avLst/>
          </a:prstGeom>
          <a:solidFill>
            <a:srgbClr val="3DE08E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15000" y="6099048"/>
            <a:ext cx="457200" cy="182880"/>
          </a:xfrm>
          <a:prstGeom prst="rect">
            <a:avLst/>
          </a:prstGeom>
          <a:solidFill>
            <a:srgbClr val="3DE08E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6099048"/>
            <a:ext cx="457200" cy="182880"/>
          </a:xfrm>
          <a:prstGeom prst="rect">
            <a:avLst/>
          </a:prstGeom>
          <a:solidFill>
            <a:srgbClr val="080C18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720840" y="6099048"/>
            <a:ext cx="457200" cy="182880"/>
          </a:xfrm>
          <a:prstGeom prst="rect">
            <a:avLst/>
          </a:prstGeom>
          <a:solidFill>
            <a:srgbClr val="080C18"/>
          </a:solidFill>
          <a:ln w="381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ight Arrow 54"/>
          <p:cNvSpPr/>
          <p:nvPr/>
        </p:nvSpPr>
        <p:spPr>
          <a:xfrm>
            <a:off x="7863840" y="5577840"/>
            <a:ext cx="548640" cy="256032"/>
          </a:xfrm>
          <a:prstGeom prst="rightArrow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595360" y="5074920"/>
            <a:ext cx="2926080" cy="13716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7824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93D"/>
                </a:solidFill>
                <a:latin typeface="Calibri"/>
              </a:defRPr>
            </a:pPr>
            <a:r>
              <a:t>KEYPOINTS &amp; DATA</a:t>
            </a:r>
          </a:p>
        </p:txBody>
      </p:sp>
      <p:sp>
        <p:nvSpPr>
          <p:cNvPr id="58" name="Oval 57"/>
          <p:cNvSpPr/>
          <p:nvPr/>
        </p:nvSpPr>
        <p:spPr>
          <a:xfrm>
            <a:off x="9052560" y="5577840"/>
            <a:ext cx="128016" cy="128016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070848" y="5596127"/>
            <a:ext cx="91440" cy="9144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509760" y="5852160"/>
            <a:ext cx="128016" cy="128016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528048" y="5870448"/>
            <a:ext cx="91440" cy="9144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966960" y="5623560"/>
            <a:ext cx="128016" cy="128016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985248" y="5641848"/>
            <a:ext cx="91440" cy="9144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424160" y="5897880"/>
            <a:ext cx="128016" cy="128016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442448" y="5916168"/>
            <a:ext cx="91440" cy="9144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326880" y="5989320"/>
            <a:ext cx="128016" cy="128016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345167" y="6007607"/>
            <a:ext cx="91440" cy="9144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241280" y="5715000"/>
            <a:ext cx="128016" cy="128016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259567" y="5733288"/>
            <a:ext cx="91440" cy="9144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Image Thresholding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Converting grayscale images to binary — the essential first step for shape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09728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How It Works — Visual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Each pixel has an intensity from 0 (black) to 255 (white). Thresholding compares every pixel to a threshold value T. If pixel &gt; T → white (foreground). If pixel ≤ T → black (background).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0829E"/>
                </a:solidFill>
                <a:latin typeface="Calibri"/>
              </a:defRPr>
            </a:pPr>
            <a:r>
              <a:t>Grayscale Input: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502920" cy="365760"/>
          </a:xfrm>
          <a:prstGeom prst="rect">
            <a:avLst/>
          </a:prstGeom>
          <a:solidFill>
            <a:srgbClr val="282828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6148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2697480"/>
            <a:ext cx="502920" cy="365760"/>
          </a:xfrm>
          <a:prstGeom prst="rect">
            <a:avLst/>
          </a:prstGeom>
          <a:solidFill>
            <a:srgbClr val="505050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76148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697480"/>
            <a:ext cx="502920" cy="365760"/>
          </a:xfrm>
          <a:prstGeom prst="rect">
            <a:avLst/>
          </a:prstGeom>
          <a:solidFill>
            <a:srgbClr val="C8C8C8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276148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0C18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39" y="2697480"/>
            <a:ext cx="502920" cy="365760"/>
          </a:xfrm>
          <a:prstGeom prst="rect">
            <a:avLst/>
          </a:prstGeom>
          <a:solidFill>
            <a:srgbClr val="B4B4B4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59" y="276148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0C18"/>
                </a:solidFill>
                <a:latin typeface="Calibri"/>
              </a:defRPr>
            </a:pPr>
            <a:r>
              <a:t>180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108960"/>
            <a:ext cx="502920" cy="365760"/>
          </a:xfrm>
          <a:prstGeom prst="rect">
            <a:avLst/>
          </a:prstGeom>
          <a:solidFill>
            <a:srgbClr val="3C3C3C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172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3108960"/>
            <a:ext cx="502920" cy="365760"/>
          </a:xfrm>
          <a:prstGeom prst="rect">
            <a:avLst/>
          </a:prstGeom>
          <a:solidFill>
            <a:srgbClr val="DCDCDC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3172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0C18"/>
                </a:solidFill>
                <a:latin typeface="Calibri"/>
              </a:defRPr>
            </a:pPr>
            <a:r>
              <a:t>220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3108960"/>
            <a:ext cx="502920" cy="365760"/>
          </a:xfrm>
          <a:prstGeom prst="rect">
            <a:avLst/>
          </a:prstGeom>
          <a:solidFill>
            <a:srgbClr val="F0F0F0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4519" y="3172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0C18"/>
                </a:solidFill>
                <a:latin typeface="Calibri"/>
              </a:defRPr>
            </a:pPr>
            <a:r>
              <a:t>240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39" y="3108960"/>
            <a:ext cx="502920" cy="365760"/>
          </a:xfrm>
          <a:prstGeom prst="rect">
            <a:avLst/>
          </a:prstGeom>
          <a:solidFill>
            <a:srgbClr val="1E1E1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59" y="317296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520440"/>
            <a:ext cx="502920" cy="365760"/>
          </a:xfrm>
          <a:prstGeom prst="rect">
            <a:avLst/>
          </a:prstGeom>
          <a:solidFill>
            <a:srgbClr val="BEBEBE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5844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0C18"/>
                </a:solidFill>
                <a:latin typeface="Calibri"/>
              </a:defRPr>
            </a:pPr>
            <a:r>
              <a:t>190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3520440"/>
            <a:ext cx="502920" cy="365760"/>
          </a:xfrm>
          <a:prstGeom prst="rect">
            <a:avLst/>
          </a:prstGeom>
          <a:solidFill>
            <a:srgbClr val="D2D2D2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35844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0C18"/>
                </a:solidFill>
                <a:latin typeface="Calibri"/>
              </a:defRPr>
            </a:pPr>
            <a:r>
              <a:t>210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3520440"/>
            <a:ext cx="502920" cy="365760"/>
          </a:xfrm>
          <a:prstGeom prst="rect">
            <a:avLst/>
          </a:prstGeom>
          <a:solidFill>
            <a:srgbClr val="323232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74519" y="35844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39" y="3520440"/>
            <a:ext cx="502920" cy="365760"/>
          </a:xfrm>
          <a:prstGeom prst="rect">
            <a:avLst/>
          </a:prstGeom>
          <a:solidFill>
            <a:srgbClr val="464646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23159" y="358444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2880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Calibri"/>
              </a:defRPr>
            </a:pPr>
            <a:r>
              <a:t>T = 127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926080" y="3200400"/>
            <a:ext cx="548640" cy="256032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0829E"/>
                </a:solidFill>
                <a:latin typeface="Calibri"/>
              </a:defRPr>
            </a:pPr>
            <a:r>
              <a:t>Binary Output: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2697480"/>
            <a:ext cx="365760" cy="365760"/>
          </a:xfrm>
          <a:prstGeom prst="rect">
            <a:avLst/>
          </a:prstGeom>
          <a:solidFill>
            <a:srgbClr val="080C18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75887" y="276148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0829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69080" y="2697480"/>
            <a:ext cx="365760" cy="365760"/>
          </a:xfrm>
          <a:prstGeom prst="rect">
            <a:avLst/>
          </a:prstGeom>
          <a:solidFill>
            <a:srgbClr val="080C18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87368" y="276148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0829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269748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98848" y="276148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255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92040" y="269748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10327" y="276148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255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3108960"/>
            <a:ext cx="365760" cy="365760"/>
          </a:xfrm>
          <a:prstGeom prst="rect">
            <a:avLst/>
          </a:prstGeom>
          <a:solidFill>
            <a:srgbClr val="080C18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75887" y="317296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0829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69080" y="310896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87368" y="317296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255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0560" y="310896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98848" y="317296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255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92040" y="3108960"/>
            <a:ext cx="365760" cy="365760"/>
          </a:xfrm>
          <a:prstGeom prst="rect">
            <a:avLst/>
          </a:prstGeom>
          <a:solidFill>
            <a:srgbClr val="080C18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10327" y="317296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0829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352044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75887" y="358444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255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69080" y="352044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87368" y="358444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0C18"/>
                </a:solidFill>
                <a:latin typeface="Calibri"/>
              </a:defRPr>
            </a:pPr>
            <a:r>
              <a:t>255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0560" y="3520440"/>
            <a:ext cx="365760" cy="365760"/>
          </a:xfrm>
          <a:prstGeom prst="rect">
            <a:avLst/>
          </a:prstGeom>
          <a:solidFill>
            <a:srgbClr val="080C18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98848" y="358444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0829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92040" y="3520440"/>
            <a:ext cx="365760" cy="365760"/>
          </a:xfrm>
          <a:prstGeom prst="rect">
            <a:avLst/>
          </a:prstGeom>
          <a:solidFill>
            <a:srgbClr val="080C18"/>
          </a:solidFill>
          <a:ln w="635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10327" y="3584448"/>
            <a:ext cx="329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0829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829E"/>
                </a:solidFill>
                <a:latin typeface="Calibri"/>
              </a:defRPr>
            </a:pPr>
            <a:r>
              <a:t>Result: every pixel is now either 0 or 255, making it easy to find shapes, separate foreground from background, and feed into contour detection.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4526280"/>
            <a:ext cx="4754880" cy="164592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46177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Calibri"/>
              </a:defRPr>
            </a:pPr>
            <a:r>
              <a:t>Code Quick Reference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489204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Convert to grayscale first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gray = cv2.cvtColor(image, cv2.COLOR_BGR2GRAY)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6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Simple binary thresholding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_, binary = cv2.threshold(gray, 127, 255,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                          cv2.THRESH_BINARY)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0" y="1371600"/>
            <a:ext cx="5760720" cy="5029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Three Thresholding Methods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9360" y="1920240"/>
            <a:ext cx="5212080" cy="13716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09360" y="1920240"/>
            <a:ext cx="52120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9224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Simple Binary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2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You choose T manually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23317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Compare every pixel to a single fixed threshold.</a:t>
            </a:r>
            <a:br/>
            <a:r>
              <a:t>• If pixel &gt; T → set to 255 (white)</a:t>
            </a:r>
            <a:br/>
            <a:r>
              <a:t>• If pixel ≤ T → set to 0 (black)</a:t>
            </a:r>
            <a:br/>
            <a:r>
              <a:t>Best for: uniform lighting, controlled environments. Fails with shadows.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09360" y="3429000"/>
            <a:ext cx="5212080" cy="13716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09360" y="3429000"/>
            <a:ext cx="521208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9224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32"/>
                </a:solidFill>
                <a:latin typeface="Calibri"/>
              </a:defRPr>
            </a:pPr>
            <a:r>
              <a:t>Otsu's Automatic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61120" y="3520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Algorithm finds optimal 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2240" y="38404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Analyzes the image histogram to find the threshold that minimizes</a:t>
            </a:r>
            <a:br/>
            <a:r>
              <a:t>intra-class variance (variance within foreground + background groups).</a:t>
            </a:r>
            <a:br/>
            <a:r>
              <a:t>No manual tuning needed. Works best when histogram has two clear peaks.</a:t>
            </a:r>
            <a:br/>
            <a:r>
              <a:t>Code: cv2.threshold(gray, 0, 255, THRESH_BINARY + THRESH_OTSU)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09360" y="4937760"/>
            <a:ext cx="5212080" cy="13716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09360" y="4937760"/>
            <a:ext cx="521208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9224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E08E"/>
                </a:solidFill>
                <a:latin typeface="Calibri"/>
              </a:defRPr>
            </a:pPr>
            <a:r>
              <a:t>Adaptive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61120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Different T per region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92240" y="53492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Calculates a separate threshold for each small neighborhood of pixels.</a:t>
            </a:r>
            <a:br/>
            <a:r>
              <a:t>Two variants: Mean (average of neighbors) and Gaussian (weighted average).</a:t>
            </a:r>
            <a:br/>
            <a:r>
              <a:t>Handles shadows, uneven lighting, and varying illumination across the image.</a:t>
            </a:r>
            <a:br/>
            <a:r>
              <a:t>Code: cv2.adaptiveThreshold(gray, 255, ADAPTIVE_THRESH_GAUSSIAN_C, ...)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1b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Which Thresholding Method Should You Use?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A decision guide based on your image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09728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1463040"/>
            <a:ext cx="3931920" cy="6400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463040"/>
            <a:ext cx="393192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600200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93D"/>
                </a:solidFill>
                <a:latin typeface="Calibri"/>
              </a:defRPr>
            </a:pPr>
            <a:r>
              <a:t>Do you have a grayscale image</a:t>
            </a:r>
            <a:br/>
            <a:r>
              <a:t>with objects you want to isolate?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103120"/>
            <a:ext cx="36576" cy="45720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E08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560320"/>
            <a:ext cx="3931920" cy="6400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2560320"/>
            <a:ext cx="39319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2697479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Calibri"/>
              </a:defRPr>
            </a:pPr>
            <a:r>
              <a:t>Is the lighting uniform</a:t>
            </a:r>
            <a:br/>
            <a:r>
              <a:t>across the entire image?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46720" y="2697480"/>
            <a:ext cx="548640" cy="256032"/>
          </a:xfrm>
          <a:prstGeom prst="rightArrow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971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E08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560320"/>
            <a:ext cx="2743200" cy="6400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2560320"/>
            <a:ext cx="274320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2697479"/>
            <a:ext cx="24688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32"/>
                </a:solidFill>
                <a:latin typeface="Calibri"/>
              </a:defRPr>
            </a:pPr>
            <a:r>
              <a:t>Do you know a good</a:t>
            </a:r>
            <a:br/>
            <a:r>
              <a:t>threshold value?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921240" y="3246120"/>
            <a:ext cx="365760" cy="256032"/>
          </a:xfrm>
          <a:prstGeom prst="rightArrow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34747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E08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611880"/>
            <a:ext cx="1828800" cy="50292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67588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C18"/>
                </a:solidFill>
                <a:latin typeface="Calibri"/>
              </a:defRPr>
            </a:pPr>
            <a:r>
              <a:t>Simple</a:t>
            </a:r>
            <a:br/>
            <a:r>
              <a:t>Binary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40112" y="3200400"/>
            <a:ext cx="36576" cy="82296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36576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5555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4297680"/>
            <a:ext cx="1828800" cy="502920"/>
          </a:xfrm>
          <a:prstGeom prst="roundRect">
            <a:avLst/>
          </a:prstGeom>
          <a:solidFill>
            <a:srgbClr val="FF8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43616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C18"/>
                </a:solidFill>
                <a:latin typeface="Calibri"/>
              </a:defRPr>
            </a:pPr>
            <a:r>
              <a:t>Otsu's</a:t>
            </a:r>
            <a:br/>
            <a:r>
              <a:t>Automatic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3200400"/>
            <a:ext cx="36576" cy="64008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4747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5555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3977639"/>
            <a:ext cx="2468880" cy="502920"/>
          </a:xfrm>
          <a:prstGeom prst="roundRect">
            <a:avLst/>
          </a:prstGeom>
          <a:solidFill>
            <a:srgbClr val="3DE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0416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C18"/>
                </a:solidFill>
                <a:latin typeface="Calibri"/>
              </a:defRPr>
            </a:pPr>
            <a:r>
              <a:t>Adaptive</a:t>
            </a:r>
            <a:br/>
            <a:r>
              <a:t>Thresholding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846320"/>
            <a:ext cx="3657600" cy="1737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846320"/>
            <a:ext cx="54864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Simple Binary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57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Use when you have consistent lighting</a:t>
            </a:r>
            <a:br/>
            <a:r>
              <a:t>and can visually determine the threshold.</a:t>
            </a:r>
            <a:br/>
            <a:br/>
            <a:r>
              <a:t>Example: document scanning with</a:t>
            </a:r>
            <a:br/>
            <a:r>
              <a:t>controlled lighting setup.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4846320"/>
            <a:ext cx="3657600" cy="1737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89120" y="4846320"/>
            <a:ext cx="54864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32"/>
                </a:solidFill>
                <a:latin typeface="Calibri"/>
              </a:defRPr>
            </a:pPr>
            <a:r>
              <a:t>Otsu's Automatic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5257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Use when lighting is even but you</a:t>
            </a:r>
            <a:br/>
            <a:r>
              <a:t>don't want to guess the threshold.</a:t>
            </a:r>
            <a:br/>
            <a:br/>
            <a:r>
              <a:t>Example: separating cells from</a:t>
            </a:r>
            <a:br/>
            <a:r>
              <a:t>background in microscope images.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4846320"/>
            <a:ext cx="3474720" cy="173736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4846320"/>
            <a:ext cx="54864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4937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E08E"/>
                </a:solidFill>
                <a:latin typeface="Calibri"/>
              </a:defRPr>
            </a:pPr>
            <a:r>
              <a:t>Adaptive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5257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Use when lighting varies across</a:t>
            </a:r>
            <a:br/>
            <a:r>
              <a:t>the image (shadows, reflections).</a:t>
            </a:r>
            <a:br/>
            <a:br/>
            <a:r>
              <a:t>Example: reading text on a page</a:t>
            </a:r>
            <a:br/>
            <a:r>
              <a:t>photographed with phone flash.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Image Gradients — Measuring Intensity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The mathematical foundation of all edge detection algorithms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097280"/>
            <a:ext cx="274320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What is an Image Gradient?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A gradient measures how quickly pixel intensity changes.</a:t>
            </a:r>
            <a:br/>
            <a:br/>
            <a:r>
              <a:t>• In a flat region: all pixels are similar → gradient is near zero.</a:t>
            </a:r>
            <a:br/>
            <a:r>
              <a:t>• At an edge: pixels change sharply (dark → light) → high gradient.</a:t>
            </a:r>
            <a:br/>
            <a:r>
              <a:t>• At a corner: intensity changes in multiple directions → very high gradient.</a:t>
            </a:r>
            <a:br/>
            <a:br/>
            <a:r>
              <a:t>Think of it like slope on a terrain map — steep slope = edge, flat = no feature.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Three Types of Regions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920240"/>
            <a:ext cx="1508760" cy="15544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0840" y="2011680"/>
            <a:ext cx="1051560" cy="5943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79" y="2103120"/>
            <a:ext cx="256032" cy="41148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04888" y="2103120"/>
            <a:ext cx="256032" cy="41148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97496" y="2103120"/>
            <a:ext cx="256032" cy="41148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265176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0829E"/>
                </a:solidFill>
                <a:latin typeface="Calibri"/>
              </a:defRPr>
            </a:pPr>
            <a:r>
              <a:t>Flat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288036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Gradient: ≈0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108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No intensity</a:t>
            </a:r>
            <a:br/>
            <a:r>
              <a:t>change anywhere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920240"/>
            <a:ext cx="1508760" cy="15544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0" y="2011680"/>
            <a:ext cx="1051560" cy="5943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19" y="2103120"/>
            <a:ext cx="411480" cy="4114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19" y="2103120"/>
            <a:ext cx="411480" cy="4114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65176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FF"/>
                </a:solidFill>
                <a:latin typeface="Calibri"/>
              </a:defRPr>
            </a:pPr>
            <a:r>
              <a:t>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8036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Gradient: 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108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Change in one</a:t>
            </a:r>
            <a:br/>
            <a:r>
              <a:t>direction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1920240"/>
            <a:ext cx="1508760" cy="15544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104120" y="2011680"/>
            <a:ext cx="1051560" cy="5943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95560" y="2103120"/>
            <a:ext cx="411480" cy="20116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52760" y="2103120"/>
            <a:ext cx="411480" cy="20116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95560" y="2331720"/>
            <a:ext cx="411480" cy="201168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652760" y="2331720"/>
            <a:ext cx="411480" cy="201168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265176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DE08E"/>
                </a:solidFill>
                <a:latin typeface="Calibri"/>
              </a:defRPr>
            </a:pPr>
            <a:r>
              <a:t>Corner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88036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Gradient: 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31089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Change in all</a:t>
            </a:r>
            <a:br/>
            <a:r>
              <a:t>directions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931920"/>
            <a:ext cx="365760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023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Sobel X Kernel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343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Detects vertical edges by measuring</a:t>
            </a:r>
            <a:br/>
            <a:r>
              <a:t>horizontal (left↔right) intensity change.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80060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F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4892040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5555"/>
                </a:solidFill>
                <a:latin typeface="Calibri"/>
              </a:defRPr>
            </a:pPr>
            <a:r>
              <a:t>-1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08760" y="480060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708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45336" y="4892040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829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480060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3DE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39696" y="4892040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E08E"/>
                </a:solidFill>
                <a:latin typeface="Calibri"/>
              </a:defRPr>
            </a:pPr>
            <a:r>
              <a:t>+1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539496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F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6" y="5486400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5555"/>
                </a:solidFill>
                <a:latin typeface="Calibri"/>
              </a:defRPr>
            </a:pPr>
            <a:r>
              <a:t>-2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508760" y="539496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708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45336" y="5486400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829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03120" y="539496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3DE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39696" y="5486400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E08E"/>
                </a:solidFill>
                <a:latin typeface="Calibri"/>
              </a:defRPr>
            </a:pPr>
            <a:r>
              <a:t>+2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" y="598932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F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76" y="6080759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5555"/>
                </a:solidFill>
                <a:latin typeface="Calibri"/>
              </a:defRPr>
            </a:pPr>
            <a:r>
              <a:t>-1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08760" y="598932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708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45336" y="6080759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829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03120" y="598932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3DE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39696" y="6080759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E08E"/>
                </a:solidFill>
                <a:latin typeface="Calibri"/>
              </a:defRPr>
            </a:pPr>
            <a:r>
              <a:t>+1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97480" y="4892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5555"/>
                </a:solidFill>
                <a:latin typeface="Calibri"/>
              </a:defRPr>
            </a:pPr>
            <a:r>
              <a:t>← Left pixels</a:t>
            </a:r>
            <a:br/>
            <a:r>
              <a:t>    get negative</a:t>
            </a:r>
            <a:br/>
            <a:r>
              <a:t>    weights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97480" y="5440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→ Right pixels</a:t>
            </a:r>
            <a:br/>
            <a:r>
              <a:t>    get positive</a:t>
            </a:r>
            <a:br/>
            <a:r>
              <a:t>    weights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89120" y="3931920"/>
            <a:ext cx="365760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63440" y="4023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Sobel Y Kernel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4343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Detects horizontal edges by measuring</a:t>
            </a:r>
            <a:br/>
            <a:r>
              <a:t>vertical (top↔bottom) intensity change.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46320" y="480060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F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82896" y="4892040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5555"/>
                </a:solidFill>
                <a:latin typeface="Calibri"/>
              </a:defRPr>
            </a:pPr>
            <a:r>
              <a:t>-1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0680" y="480060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F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77256" y="4892040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5555"/>
                </a:solidFill>
                <a:latin typeface="Calibri"/>
              </a:defRPr>
            </a:pPr>
            <a:r>
              <a:t>-2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0" y="480060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F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71616" y="4892040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5555"/>
                </a:solidFill>
                <a:latin typeface="Calibri"/>
              </a:defRPr>
            </a:pPr>
            <a:r>
              <a:t>-1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46320" y="539496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708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82896" y="5486400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829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40680" y="539496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708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77256" y="5486400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829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35040" y="539496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708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71616" y="5486400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829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46320" y="598932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3DE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82896" y="6080759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E08E"/>
                </a:solidFill>
                <a:latin typeface="Calibri"/>
              </a:defRPr>
            </a:pPr>
            <a:r>
              <a:t>+1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40680" y="598932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3DE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77256" y="6080759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E08E"/>
                </a:solidFill>
                <a:latin typeface="Calibri"/>
              </a:defRPr>
            </a:pPr>
            <a:r>
              <a:t>+2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5989320"/>
            <a:ext cx="557784" cy="557784"/>
          </a:xfrm>
          <a:prstGeom prst="rect">
            <a:avLst/>
          </a:prstGeom>
          <a:solidFill>
            <a:srgbClr val="1E2C4E"/>
          </a:solidFill>
          <a:ln w="25400">
            <a:solidFill>
              <a:srgbClr val="3DE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71616" y="6080759"/>
            <a:ext cx="4846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E08E"/>
                </a:solidFill>
                <a:latin typeface="Calibri"/>
              </a:defRPr>
            </a:pPr>
            <a:r>
              <a:t>+1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29400" y="4892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5555"/>
                </a:solidFill>
                <a:latin typeface="Calibri"/>
              </a:defRPr>
            </a:pPr>
            <a:r>
              <a:t>↑ Top row</a:t>
            </a:r>
            <a:br/>
            <a:r>
              <a:t>   negative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29400" y="5349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↓ Bottom row</a:t>
            </a:r>
            <a:br/>
            <a:r>
              <a:t>   positive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21040" y="3931920"/>
            <a:ext cx="347472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95360" y="4023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Combining Gradients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95360" y="443484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Magnitude (edge strength):</a:t>
            </a:r>
            <a:br/>
            <a:r>
              <a:t>  M = √( Gx² + Gy² )</a:t>
            </a:r>
            <a:br/>
            <a:br/>
            <a:r>
              <a:t>Direction (edge angle):</a:t>
            </a:r>
            <a:br/>
            <a:r>
              <a:t>  θ = arctan( Gy / Gx 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503920" y="5257800"/>
            <a:ext cx="3108960" cy="12801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86800" y="53492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93D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86800" y="5577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00D4FF"/>
                </a:solidFill>
                <a:latin typeface="Calibri"/>
              </a:defRPr>
            </a:pPr>
            <a:r>
              <a:t>Gx = cv2.Sobel(gray, CV_64F, 1, 0)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00D4FF"/>
                </a:solidFill>
                <a:latin typeface="Calibri"/>
              </a:defRPr>
            </a:pPr>
            <a:r>
              <a:t>Gy = cv2.Sobel(gray, CV_64F, 0, 1)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3DE08E"/>
                </a:solidFill>
                <a:latin typeface="Calibri"/>
              </a:defRPr>
            </a:pPr>
            <a:r>
              <a:t>mag = np.sqrt(Gx**2 + Gy**2)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 b="0">
                <a:solidFill>
                  <a:srgbClr val="FF8C32"/>
                </a:solidFill>
                <a:latin typeface="Calibri"/>
              </a:defRPr>
            </a:pPr>
            <a:r>
              <a:t>lap = cv2.Laplacian(gray, CV_64F)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Gradient Operators —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Sobel vs Scharr vs Laplacian — when to use which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097280"/>
            <a:ext cx="274320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370332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7033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  <a:latin typeface="Calibri"/>
              </a:defRPr>
            </a:pPr>
            <a:r>
              <a:t>Sobel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0829E"/>
                </a:solidFill>
                <a:latin typeface="Calibri"/>
              </a:defRPr>
            </a:pPr>
            <a:r>
              <a:t>1st Order Derivative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Most common gradient operator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877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877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Computes X and Y separately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3522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352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Moderate noise sensitivity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826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826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Use ksize=3 (default) or ksize=5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301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301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Good balance of speed &amp; accuracy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14800"/>
            <a:ext cx="3337560" cy="50292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59" y="41605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cv2.Sobel(gray, cv2.CV_64F, 1, 0, ksize=3)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5488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93D"/>
                </a:solidFill>
                <a:latin typeface="Calibri"/>
              </a:defRPr>
            </a:pPr>
            <a:r>
              <a:t>When to use: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292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General-purpose edge detection.</a:t>
            </a:r>
            <a:br/>
            <a:r>
              <a:t>Default choice for most projects.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1371600"/>
            <a:ext cx="370332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1371600"/>
            <a:ext cx="370332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5087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DE08E"/>
                </a:solidFill>
                <a:latin typeface="Calibri"/>
              </a:defRPr>
            </a:pPr>
            <a:r>
              <a:t>Scharr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182880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0829E"/>
                </a:solidFill>
                <a:latin typeface="Calibri"/>
              </a:defRPr>
            </a:pPr>
            <a:r>
              <a:t>Enhanced 1st Derivative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2240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E08E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59" y="2240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Better rotational symmetry than Sobel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25877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E08E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59" y="25877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More accurate for 3×3 kernel size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293522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E08E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59" y="29352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Lower noise sensitivity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59" y="32826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E08E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59" y="32826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Only works with ksize=3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59" y="36301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E08E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59" y="36301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Weights: 3,10,3 vs Sobel's 1,2,1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0" y="4114800"/>
            <a:ext cx="3337560" cy="50292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79" y="41605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cv2.Scharr(gray, cv2.CV_64F, 1, 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475488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93D"/>
                </a:solidFill>
                <a:latin typeface="Calibri"/>
              </a:defRPr>
            </a:pPr>
            <a:r>
              <a:t>When to use: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0292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When you need more accurate gradients</a:t>
            </a:r>
            <a:br/>
            <a:r>
              <a:t>at the cost of only supporting 3×3.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1371600"/>
            <a:ext cx="370332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1371600"/>
            <a:ext cx="370332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15087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C32"/>
                </a:solidFill>
                <a:latin typeface="Calibri"/>
              </a:defRPr>
            </a:pPr>
            <a:r>
              <a:t>Laplacian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182880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0829E"/>
                </a:solidFill>
                <a:latin typeface="Calibri"/>
              </a:defRPr>
            </a:pPr>
            <a:r>
              <a:t>2nd Order Derivative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240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3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2240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Detects edges in ALL directions at once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258775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3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25877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No need for separate X and 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293522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3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41080" y="29352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Computes the sum of second derivatives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32826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3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32826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Very sensitive to noise (blur first!)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363016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3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41080" y="36301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Finds both edges and blobs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114800"/>
            <a:ext cx="3337560" cy="50292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8200" y="41605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cv2.Laplacian(gray, cv2.CV_64F)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475488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93D"/>
                </a:solidFill>
                <a:latin typeface="Calibri"/>
              </a:defRPr>
            </a:pPr>
            <a:r>
              <a:t>When to use: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50292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Quick overview of all edges.</a:t>
            </a:r>
            <a:br/>
            <a:r>
              <a:t>Always blur image first.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6537960"/>
            <a:ext cx="11247120" cy="2286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5555"/>
                </a:solidFill>
                <a:latin typeface="Calibri"/>
              </a:defRPr>
            </a:pPr>
            <a:r>
              <a:t>⚠  Always use cv2.CV_64F (not uint8) to preserve negative gradient values. Convert back with cv2.convertScaleAbs() after computation.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Canny Edge Detection — The Gold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John Canny, 1986 — optimal: low error, precise localization, thin single-pixel edges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097280"/>
            <a:ext cx="274320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743200" cy="38404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155448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Calibri"/>
              </a:defRPr>
            </a:pPr>
            <a:r>
              <a:t>GAUSSIAN</a:t>
            </a:r>
            <a:br/>
            <a:r>
              <a:t>SMOOTH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Apply a 5×5 Gaussian blur</a:t>
            </a:r>
            <a:br/>
            <a:r>
              <a:t>to the input image. This</a:t>
            </a:r>
            <a:br/>
            <a:r>
              <a:t>removes sensor noise that</a:t>
            </a:r>
            <a:br/>
            <a:r>
              <a:t>would create thousands of</a:t>
            </a:r>
            <a:br/>
            <a:r>
              <a:t>false edge detections.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79" y="4434840"/>
            <a:ext cx="2468880" cy="6400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Noisy image →</a:t>
            </a:r>
            <a:br/>
            <a:r>
              <a:t>Smoothed image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17520" y="2926080"/>
            <a:ext cx="274320" cy="256032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46120" y="1371600"/>
            <a:ext cx="2743200" cy="38404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371600"/>
            <a:ext cx="274320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06240" y="1554480"/>
            <a:ext cx="640080" cy="64008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79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32"/>
                </a:solidFill>
                <a:latin typeface="Calibri"/>
              </a:defRPr>
            </a:pPr>
            <a:r>
              <a:t>COMPUTE</a:t>
            </a:r>
            <a:br/>
            <a:r>
              <a:t>GRADIENTS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834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Use Sobel filters to find</a:t>
            </a:r>
            <a:br/>
            <a:r>
              <a:t>gradient magnitude and</a:t>
            </a:r>
            <a:br/>
            <a:r>
              <a:t>direction at every pixel.</a:t>
            </a:r>
            <a:br/>
            <a:r>
              <a:t>High magnitude means a</a:t>
            </a:r>
            <a:br/>
            <a:r>
              <a:t>likely edge location.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79" y="4434840"/>
            <a:ext cx="2468880" cy="6400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Smoothed →</a:t>
            </a:r>
            <a:br/>
            <a:r>
              <a:t>Gradient map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9320" y="2926080"/>
            <a:ext cx="274320" cy="256032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1371600"/>
            <a:ext cx="2743200" cy="38404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371600"/>
            <a:ext cx="274320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78040" y="1554480"/>
            <a:ext cx="640080" cy="64008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DE08E"/>
                </a:solidFill>
                <a:latin typeface="Calibri"/>
              </a:defRPr>
            </a:pPr>
            <a:r>
              <a:t>NON-MAX</a:t>
            </a:r>
            <a:br/>
            <a:r>
              <a:t>SUPPRESS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834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For each pixel, check if it</a:t>
            </a:r>
            <a:br/>
            <a:r>
              <a:t>is the local maximum along</a:t>
            </a:r>
            <a:br/>
            <a:r>
              <a:t>its gradient direction. This</a:t>
            </a:r>
            <a:br/>
            <a:r>
              <a:t>thins thick edge regions</a:t>
            </a:r>
            <a:br/>
            <a:r>
              <a:t>down to single-pixel lines.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434840"/>
            <a:ext cx="2468880" cy="6400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Thick edges →</a:t>
            </a:r>
            <a:br/>
            <a:r>
              <a:t>Thin edges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961120" y="2926080"/>
            <a:ext cx="274320" cy="256032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89720" y="1371600"/>
            <a:ext cx="2743200" cy="38404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1371600"/>
            <a:ext cx="274320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49840" y="1554480"/>
            <a:ext cx="640080" cy="64008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2286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5555"/>
                </a:solidFill>
                <a:latin typeface="Calibri"/>
              </a:defRPr>
            </a:pPr>
            <a:r>
              <a:t>HYSTERESIS</a:t>
            </a:r>
            <a:br/>
            <a:r>
              <a:t>THRESHOLD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83464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Two thresholds: High &amp; Low.</a:t>
            </a:r>
            <a:br/>
            <a:r>
              <a:t>&gt; high → definite edge.</a:t>
            </a:r>
            <a:br/>
            <a:r>
              <a:t>&lt; low → definitely not edge.</a:t>
            </a:r>
            <a:br/>
            <a:r>
              <a:t>Between → edge only if it</a:t>
            </a:r>
            <a:br/>
            <a:r>
              <a:t>connects to a definite edge.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4434840"/>
            <a:ext cx="2468880" cy="6400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Thin edges →</a:t>
            </a:r>
            <a:br/>
            <a:r>
              <a:t>Final clean edges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486400"/>
            <a:ext cx="5669280" cy="11887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5778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E08E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8064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blurred = cv2.GaussianBlur(gray, (5,5), 0)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3DE08E"/>
                </a:solidFill>
                <a:latin typeface="Calibri"/>
              </a:defRPr>
            </a:pPr>
            <a:r>
              <a:t>edges = cv2.Canny(blurred, 50, 150)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4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Auto-Canny: median-based adaptive thresholds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C8D6E5"/>
                </a:solidFill>
                <a:latin typeface="Calibri"/>
              </a:defRPr>
            </a:pPr>
            <a:r>
              <a:t>med = np.median(gray)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FFD93D"/>
                </a:solidFill>
                <a:latin typeface="Calibri"/>
              </a:defRPr>
            </a:pPr>
            <a:r>
              <a:t>edges = cv2.Canny(gray, int(0.67*med), int(1.33*med))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486400"/>
            <a:ext cx="5303520" cy="11887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5778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Calibri"/>
              </a:defRPr>
            </a:pPr>
            <a:r>
              <a:t>Threshold Guide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8521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• Low thresholds (30,90): more edges, more noise — use for faint features</a:t>
            </a:r>
            <a:br/>
            <a:r>
              <a:t>• Medium (50,150): balanced — recommended starting point for most images</a:t>
            </a:r>
            <a:br/>
            <a:r>
              <a:t>• High (100,200): fewer edges, only strong boundaries — cleaner results</a:t>
            </a:r>
            <a:br/>
            <a:r>
              <a:t>• Rule of thumb: high threshold = 2× to 3× the low threshold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Morphological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Sculpting binary images — remove noise, fill holes, refine shapes before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097280"/>
            <a:ext cx="274320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74320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EROSION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83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Shrink foreground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Slides a kernel across the image.</a:t>
            </a:r>
            <a:br/>
            <a:r>
              <a:t>A pixel stays white only if ALL</a:t>
            </a:r>
            <a:br/>
            <a:r>
              <a:t>pixels under the kernel are white.</a:t>
            </a:r>
            <a:br/>
            <a:br/>
            <a:r>
              <a:t>Effect: shrinks objects, removes</a:t>
            </a:r>
            <a:br/>
            <a:r>
              <a:t>small noise dots, separates</a:t>
            </a:r>
            <a:br/>
            <a:r>
              <a:t>touching objects.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9319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7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4983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16152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79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7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5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4983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16152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79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5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4983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16152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79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5" y="4608576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4983" y="4608576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16152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79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7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5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4983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16152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1508760" y="4343400"/>
            <a:ext cx="228600" cy="256032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83080" y="39319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After: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83080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84248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185416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386584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87752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83080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984248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85416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86584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587752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783080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84248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185416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386584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87752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83080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984248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185416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86584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587752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783080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984248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185416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386584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587752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65760" y="5074920"/>
            <a:ext cx="2560320" cy="4114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  <a:latin typeface="Calibri"/>
              </a:defRPr>
            </a:pPr>
            <a:r>
              <a:t>cv2.erode(img, kernel, iterations=1)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3017520" y="3200400"/>
            <a:ext cx="274320" cy="256032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246120" y="1371600"/>
            <a:ext cx="274320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46120" y="1371600"/>
            <a:ext cx="274320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83279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32"/>
                </a:solidFill>
                <a:latin typeface="Calibri"/>
              </a:defRPr>
            </a:pPr>
            <a:r>
              <a:t>DILATION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3279" y="1783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Expand foreground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29000" y="21031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Slides a kernel across the image.</a:t>
            </a:r>
            <a:br/>
            <a:r>
              <a:t>A pixel becomes white if ANY</a:t>
            </a:r>
            <a:br/>
            <a:r>
              <a:t>pixel under the kernel is white.</a:t>
            </a:r>
            <a:br/>
            <a:br/>
            <a:r>
              <a:t>Effect: expands objects, fills</a:t>
            </a:r>
            <a:br/>
            <a:r>
              <a:t>small holes, connects nearby</a:t>
            </a:r>
            <a:br/>
            <a:r>
              <a:t>components.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83279" y="39319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83279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584448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785615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986783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187952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383279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584448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785615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986783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187952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383279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584448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785615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986783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187952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383279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584448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785615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986783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187952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383279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584448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785615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986783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187952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ight Arrow 98"/>
          <p:cNvSpPr/>
          <p:nvPr/>
        </p:nvSpPr>
        <p:spPr>
          <a:xfrm>
            <a:off x="4480560" y="4343400"/>
            <a:ext cx="228600" cy="256032"/>
          </a:xfrm>
          <a:prstGeom prst="rightArrow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54879" y="39319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After: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754879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956047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157216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358383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559551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754879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956047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157216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358383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559551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754879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956047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157216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358383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559551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754879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956047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157216" y="4608576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358383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559551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754879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956047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157216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358383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559551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3337560" y="5074920"/>
            <a:ext cx="2560320" cy="4114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42900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8C32"/>
                </a:solidFill>
                <a:latin typeface="Calibri"/>
              </a:defRPr>
            </a:pPr>
            <a:r>
              <a:t>cv2.dilate(img, kernel, iterations=1)</a:t>
            </a:r>
          </a:p>
        </p:txBody>
      </p:sp>
      <p:sp>
        <p:nvSpPr>
          <p:cNvPr id="128" name="Right Arrow 127"/>
          <p:cNvSpPr/>
          <p:nvPr/>
        </p:nvSpPr>
        <p:spPr>
          <a:xfrm>
            <a:off x="5989320" y="3200400"/>
            <a:ext cx="274320" cy="256032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6217920" y="1371600"/>
            <a:ext cx="274320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217920" y="1371600"/>
            <a:ext cx="274320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5508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DE08E"/>
                </a:solidFill>
                <a:latin typeface="Calibri"/>
              </a:defRPr>
            </a:pPr>
            <a:r>
              <a:t>OPENING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355080" y="1783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Erode → Dilate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00800" y="21031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First erodes (removes noise),</a:t>
            </a:r>
            <a:br/>
            <a:r>
              <a:t>then dilates (restores size).</a:t>
            </a:r>
            <a:br/>
            <a:br/>
            <a:r>
              <a:t>Effect: noise specks are removed</a:t>
            </a:r>
            <a:br/>
            <a:r>
              <a:t>but the main object retains its</a:t>
            </a:r>
            <a:br/>
            <a:r>
              <a:t>original size. Best pre-processing</a:t>
            </a:r>
            <a:br/>
            <a:r>
              <a:t>before contour detection.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355080" y="39319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55080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556248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757416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958584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159752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355080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556248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757416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958584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159752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355080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556248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757416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958584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159752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355080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556248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757416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958584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159752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55080" y="4773168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556248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757416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958584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159752" y="4773168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ight Arrow 159"/>
          <p:cNvSpPr/>
          <p:nvPr/>
        </p:nvSpPr>
        <p:spPr>
          <a:xfrm>
            <a:off x="7452360" y="4343400"/>
            <a:ext cx="228600" cy="256032"/>
          </a:xfrm>
          <a:prstGeom prst="rightArrow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726679" y="39319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After: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726679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927848" y="4114800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129015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330183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531352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726679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927848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129015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330183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8531352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726679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927848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129015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330183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531352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726679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27848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9015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330183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531352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726679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927848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129015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330183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31352" y="4773168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6309359" y="5074920"/>
            <a:ext cx="2560320" cy="4114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40080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DE08E"/>
                </a:solidFill>
                <a:latin typeface="Calibri"/>
              </a:defRPr>
            </a:pPr>
            <a:r>
              <a:t>cv2.morphologyEx(img, MORPH_OPEN, k)</a:t>
            </a:r>
          </a:p>
        </p:txBody>
      </p:sp>
      <p:sp>
        <p:nvSpPr>
          <p:cNvPr id="189" name="Right Arrow 188"/>
          <p:cNvSpPr/>
          <p:nvPr/>
        </p:nvSpPr>
        <p:spPr>
          <a:xfrm>
            <a:off x="8961120" y="3200400"/>
            <a:ext cx="274320" cy="256032"/>
          </a:xfrm>
          <a:prstGeom prst="rightArrow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9189720" y="1371600"/>
            <a:ext cx="274320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89720" y="1371600"/>
            <a:ext cx="274320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32688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5555"/>
                </a:solidFill>
                <a:latin typeface="Calibri"/>
              </a:defRPr>
            </a:pPr>
            <a:r>
              <a:t>CLOSING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326880" y="17830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Dilate → Erode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372600" y="210312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First dilates (fills holes),</a:t>
            </a:r>
            <a:br/>
            <a:r>
              <a:t>then erodes (restores size).</a:t>
            </a:r>
            <a:br/>
            <a:br/>
            <a:r>
              <a:t>Effect: small holes and gaps</a:t>
            </a:r>
            <a:br/>
            <a:r>
              <a:t>inside objects are filled while</a:t>
            </a:r>
            <a:br/>
            <a:r>
              <a:t>the overall shape stays the</a:t>
            </a:r>
            <a:br/>
            <a:r>
              <a:t>same.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9326880" y="39319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Before: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9326880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528048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729216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930384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0131552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26880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528048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729216" y="4279392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930384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0131552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26880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528048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729216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930384" y="4443984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0131552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26880" y="4608576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528048" y="4608576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729216" y="4608576"/>
            <a:ext cx="182880" cy="146304"/>
          </a:xfrm>
          <a:prstGeom prst="rect">
            <a:avLst/>
          </a:prstGeom>
          <a:solidFill>
            <a:srgbClr val="141423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930384" y="4608576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0131552" y="4608576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26880" y="4773168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528048" y="4773168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729216" y="4773168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930384" y="4773168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0131552" y="4773168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ight Arrow 220"/>
          <p:cNvSpPr/>
          <p:nvPr/>
        </p:nvSpPr>
        <p:spPr>
          <a:xfrm>
            <a:off x="10424160" y="4343400"/>
            <a:ext cx="228600" cy="256032"/>
          </a:xfrm>
          <a:prstGeom prst="rightArrow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0698480" y="39319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After: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698480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899648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100816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1301984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1503152" y="4114800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0698480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0899648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1100816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1301984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1503152" y="4279392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0698480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0899648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1100816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1301984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1503152" y="4443984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0698480" y="4608576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0899648" y="4608576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1100816" y="4608576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1301984" y="4608576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1503152" y="4608576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0698480" y="4773168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0899648" y="4773168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1100816" y="4773168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1301984" y="4773168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1503152" y="4773168"/>
            <a:ext cx="182880" cy="146304"/>
          </a:xfrm>
          <a:prstGeom prst="rect">
            <a:avLst/>
          </a:prstGeom>
          <a:solidFill>
            <a:srgbClr val="FFFFFF"/>
          </a:solidFill>
          <a:ln w="5080">
            <a:solidFill>
              <a:srgbClr val="445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9281160" y="5074920"/>
            <a:ext cx="2560320" cy="4114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9372600" y="5120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5555"/>
                </a:solidFill>
                <a:latin typeface="Calibri"/>
              </a:defRPr>
            </a:pPr>
            <a:r>
              <a:t>cv2.morphologyEx(img, MORPH_CLOSE, k)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457200" y="6537960"/>
            <a:ext cx="11247120" cy="2286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93D"/>
                </a:solidFill>
                <a:latin typeface="Calibri"/>
              </a:defRPr>
            </a:pPr>
            <a:r>
              <a:t>Typical pipeline:  Threshold → Opening (remove noise) → Closing (fill holes) → Contour Detection      |      kernel = cv2.getStructuringElement(MORPH_ELLIPSE, (5,5))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Contour Detection — Finding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Organized boundary curves you can measure, classify, and reason about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097280"/>
            <a:ext cx="274320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21031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5555"/>
                </a:solidFill>
                <a:latin typeface="Calibri"/>
              </a:defRPr>
            </a:pPr>
            <a:r>
              <a:t>Edges vs Contours — What's the Difference?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Edges are individual disconnected pixels where intensity changes sharply.</a:t>
            </a:r>
            <a:br/>
            <a:r>
              <a:t>They're scattered — no organization, no shape information.</a:t>
            </a:r>
            <a:br/>
            <a:br/>
            <a:r>
              <a:t>Contours are organized, connected curves that form closed boundaries.</a:t>
            </a:r>
            <a:br/>
            <a:r>
              <a:t>Each contour represents one shape that you can measure (area,</a:t>
            </a:r>
            <a:br/>
            <a:r>
              <a:t>perimeter, bounding box) and classify (circle, rectangle, triangle).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10312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How findContours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Input: a binary image (from thresholding or Canny edges).</a:t>
            </a:r>
            <a:br/>
            <a:r>
              <a:t>OpenCV traces along white pixel boundaries, grouping connected</a:t>
            </a:r>
            <a:br/>
            <a:r>
              <a:t>pixels into ordered point sequences — one list per shape.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606040"/>
            <a:ext cx="4846320" cy="6400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FF"/>
                </a:solidFill>
                <a:latin typeface="Calibri"/>
              </a:defRPr>
            </a:pPr>
            <a:r>
              <a:t>contours, hierarchy = cv2.findContours(</a:t>
            </a:r>
            <a:br/>
            <a:r>
              <a:t>    binary, cv2.RETR_EXTERNAL, cv2.CHAIN_APPROX_SIMPLE)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11247120" cy="13716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Retrieval Modes — What Gets Returned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06240"/>
            <a:ext cx="2606040" cy="7772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260604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429768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E08E"/>
                </a:solidFill>
                <a:latin typeface="Calibri"/>
              </a:defRPr>
            </a:pPr>
            <a:r>
              <a:t>RETR_EXTERNAL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4526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Most common. Ignores holes</a:t>
            </a:r>
            <a:br/>
            <a:r>
              <a:t>and nested shapes inside.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206240"/>
            <a:ext cx="2606040" cy="7772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4206240"/>
            <a:ext cx="260604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429768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alibri"/>
              </a:defRPr>
            </a:pPr>
            <a:r>
              <a:t>RETR_LIST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526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Simple collection of every</a:t>
            </a:r>
            <a:br/>
            <a:r>
              <a:t>contour, no hierarchy info.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206240"/>
            <a:ext cx="2606040" cy="7772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206240"/>
            <a:ext cx="260604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429768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32"/>
                </a:solidFill>
                <a:latin typeface="Calibri"/>
              </a:defRPr>
            </a:pPr>
            <a:r>
              <a:t>RETR_TREE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4526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Full nesting hierarchy.</a:t>
            </a:r>
            <a:br/>
            <a:r>
              <a:t>Know which shape is inside which.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39" y="4206240"/>
            <a:ext cx="2606040" cy="7772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06839" y="4206240"/>
            <a:ext cx="260604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79" y="429768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6AF0"/>
                </a:solidFill>
                <a:latin typeface="Calibri"/>
              </a:defRPr>
            </a:pPr>
            <a:r>
              <a:t>RETR_CCOMP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79" y="4526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Objects and their holes.</a:t>
            </a:r>
            <a:br/>
            <a:r>
              <a:t>Useful for donut shapes.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49240"/>
            <a:ext cx="11247120" cy="13716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C4B2"/>
                </a:solidFill>
                <a:latin typeface="Calibri"/>
              </a:defRPr>
            </a:pPr>
            <a:r>
              <a:t>Key Contour Properties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715000"/>
            <a:ext cx="54864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6967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Area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39" y="56967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Size in pixels². Filter &gt; 500 to remove noise.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5715000"/>
            <a:ext cx="54864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56967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32"/>
                </a:solidFill>
                <a:latin typeface="Calibri"/>
              </a:defRPr>
            </a:pPr>
            <a:r>
              <a:t>Perimeter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56967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Boundary length. True = closed contour.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19" y="5715000"/>
            <a:ext cx="54864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79" y="56967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DE08E"/>
                </a:solidFill>
                <a:latin typeface="Calibri"/>
              </a:defRPr>
            </a:pPr>
            <a:r>
              <a:t>Bounding Box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56967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x, y, w, h — axis-aligned rectangle.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6172200"/>
            <a:ext cx="54864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61539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6AF0"/>
                </a:solidFill>
                <a:latin typeface="Calibri"/>
              </a:defRPr>
            </a:pPr>
            <a:r>
              <a:t>Centroid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39" y="6153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Center of mass (cx, cy).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6172200"/>
            <a:ext cx="54864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0560" y="61539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5555"/>
                </a:solidFill>
                <a:latin typeface="Calibri"/>
              </a:defRPr>
            </a:pPr>
            <a:r>
              <a:t>Shape Approx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6153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3 verts = △, 4 = □, 8+ ≈ ○.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19" y="6172200"/>
            <a:ext cx="54864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83879" y="61539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93D"/>
                </a:solidFill>
                <a:latin typeface="Calibri"/>
              </a:defRPr>
            </a:pPr>
            <a:r>
              <a:t>Convex Hull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61539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Outer envelope. Solidity = area/hull_area.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5b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Contour Analysis — Measuring &amp; Classifying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Practical code patterns for extracting information from contours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097280"/>
            <a:ext cx="274320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66928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Shape Classification by Vertex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Use cv2.approxPolyDP() to simplify a contour to fewer vertices.</a:t>
            </a:r>
            <a:br/>
            <a:r>
              <a:t>The number of vertices tells you what shape it is:</a:t>
            </a:r>
            <a:br/>
            <a:r>
              <a:t>epsilon = 0.02 * cv2.arcLength(contour, True)  ← controls simplification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188720" cy="128016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DE08E"/>
                </a:solidFill>
                <a:latin typeface="Calibri"/>
              </a:defRPr>
            </a:pPr>
            <a:r>
              <a:t>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DE08E"/>
                </a:solidFill>
                <a:latin typeface="Calibri"/>
              </a:defRPr>
            </a:pPr>
            <a:r>
              <a:t>Triangle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3 vertices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0632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2606040"/>
            <a:ext cx="1188720" cy="128016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4FF"/>
                </a:solidFill>
                <a:latin typeface="Calibri"/>
              </a:defRPr>
            </a:pPr>
            <a: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FF"/>
                </a:solidFill>
                <a:latin typeface="Calibri"/>
              </a:defRPr>
            </a:pPr>
            <a:r>
              <a:t>Rectangle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337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4 vertices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0632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2606040"/>
            <a:ext cx="1188720" cy="128016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39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8C32"/>
                </a:solidFill>
                <a:latin typeface="Calibri"/>
              </a:defRPr>
            </a:pPr>
            <a:r>
              <a:t>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8C32"/>
                </a:solidFill>
                <a:latin typeface="Calibri"/>
              </a:defRPr>
            </a:pPr>
            <a:r>
              <a:t>Pentagon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3337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5 vertices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0632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2606040"/>
            <a:ext cx="1188720" cy="128016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B06AF0"/>
                </a:solidFill>
                <a:latin typeface="Calibri"/>
              </a:defRPr>
            </a:pPr>
            <a: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06AF0"/>
                </a:solidFill>
                <a:latin typeface="Calibri"/>
              </a:defRPr>
            </a:pPr>
            <a:r>
              <a:t>Circle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337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29E"/>
                </a:solidFill>
                <a:latin typeface="Calibri"/>
              </a:defRPr>
            </a:pPr>
            <a:r>
              <a:t>8+ vertices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371600"/>
            <a:ext cx="530352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Filtering Contours — Removing Noise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Real images produce hundreds of tiny contours from noise.</a:t>
            </a:r>
            <a:br/>
            <a:r>
              <a:t>Filter by area, aspect ratio, or solidity to keep only real objects: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2377440"/>
            <a:ext cx="4754880" cy="155448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46888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Filter by minimum area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00D4FF"/>
                </a:solidFill>
                <a:latin typeface="Calibri"/>
              </a:defRPr>
            </a:pPr>
            <a:r>
              <a:t>big = [c for c in contours if cv2.contourArea(c) &gt; 500]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5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Sort by area (largest first)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sorted_c = sorted(contours, key=cv2.contourArea,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FF8C32"/>
                </a:solidFill>
                <a:latin typeface="Calibri"/>
              </a:defRPr>
            </a:pPr>
            <a:r>
              <a:t>                   reverse=True)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500" b="0">
                <a:solidFill>
                  <a:srgbClr val="70829E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70829E"/>
                </a:solidFill>
                <a:latin typeface="Calibri"/>
              </a:defRPr>
            </a:pPr>
            <a:r>
              <a:t># Aspect ratio filter (near-square objects)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DE08E"/>
                </a:solidFill>
                <a:latin typeface="Calibri"/>
              </a:defRPr>
            </a:pPr>
            <a:r>
              <a:t>x,y,w,h = cv2.boundingRect(c); ar = w/h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389120"/>
            <a:ext cx="11247120" cy="22860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C4B2"/>
                </a:solidFill>
                <a:latin typeface="Calibri"/>
              </a:defRPr>
            </a:pPr>
            <a:r>
              <a:t>Complete Contour Analysis Pipeline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937760"/>
            <a:ext cx="1234440" cy="10058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937760"/>
            <a:ext cx="123444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0292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1. Read</a:t>
            </a:r>
            <a:br/>
            <a:r>
              <a:t>Image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4864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Load BGR</a:t>
            </a:r>
            <a:br/>
            <a:r>
              <a:t>image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56232" y="5257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454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11680" y="4937760"/>
            <a:ext cx="1234440" cy="10058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011680" y="4937760"/>
            <a:ext cx="123444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50292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32"/>
                </a:solidFill>
                <a:latin typeface="Calibri"/>
              </a:defRPr>
            </a:pPr>
            <a:r>
              <a:t>2. Gray</a:t>
            </a:r>
            <a:br/>
            <a:r>
              <a:t>scale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4864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Convert</a:t>
            </a:r>
            <a:br/>
            <a:r>
              <a:t>to gray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27832" y="5257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454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83280" y="4937760"/>
            <a:ext cx="1234440" cy="10058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83280" y="4937760"/>
            <a:ext cx="123444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29000" y="50292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DE08E"/>
                </a:solidFill>
                <a:latin typeface="Calibri"/>
              </a:defRPr>
            </a:pPr>
            <a:r>
              <a:t>3. Blur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54864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GaussianBlur</a:t>
            </a:r>
            <a:br/>
            <a:r>
              <a:t>(5,5)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9432" y="5257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454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54880" y="4937760"/>
            <a:ext cx="1234440" cy="10058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54880" y="4937760"/>
            <a:ext cx="123444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0600" y="50292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06AF0"/>
                </a:solidFill>
                <a:latin typeface="Calibri"/>
              </a:defRPr>
            </a:pPr>
            <a:r>
              <a:t>4. Thresh</a:t>
            </a:r>
            <a:br/>
            <a:r>
              <a:t>old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54864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Otsu's</a:t>
            </a:r>
            <a:br/>
            <a:r>
              <a:t>binary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71032" y="5257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454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26480" y="4937760"/>
            <a:ext cx="1234440" cy="10058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80" y="4937760"/>
            <a:ext cx="123444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50292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5555"/>
                </a:solidFill>
                <a:latin typeface="Calibri"/>
              </a:defRPr>
            </a:pPr>
            <a:r>
              <a:t>5. Morph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2200" y="54864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Opening +</a:t>
            </a:r>
            <a:br/>
            <a:r>
              <a:t>Closing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42632" y="5257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454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98079" y="4937760"/>
            <a:ext cx="1234440" cy="10058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498079" y="4937760"/>
            <a:ext cx="123444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43800" y="50292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93D"/>
                </a:solidFill>
                <a:latin typeface="Calibri"/>
              </a:defRPr>
            </a:pPr>
            <a:r>
              <a:t>6. Find</a:t>
            </a:r>
            <a:br/>
            <a:r>
              <a:t>Contours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43800" y="54864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RETR_</a:t>
            </a:r>
            <a:br/>
            <a:r>
              <a:t>EXTERNAL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14232" y="5257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454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69680" y="4937760"/>
            <a:ext cx="1234440" cy="10058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69680" y="4937760"/>
            <a:ext cx="1234440" cy="45720"/>
          </a:xfrm>
          <a:prstGeom prst="rect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15400" y="50292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C4B2"/>
                </a:solidFill>
                <a:latin typeface="Calibri"/>
              </a:defRPr>
            </a:pPr>
            <a:r>
              <a:t>7. Filter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15400" y="54864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Area &gt;</a:t>
            </a:r>
            <a:br/>
            <a:r>
              <a:t>500 px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85832" y="5257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454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241280" y="4937760"/>
            <a:ext cx="1234440" cy="100584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41280" y="4937760"/>
            <a:ext cx="1234440" cy="45720"/>
          </a:xfrm>
          <a:prstGeom prst="rect">
            <a:avLst/>
          </a:prstGeom>
          <a:solidFill>
            <a:srgbClr val="F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87000" y="50292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6AB0"/>
                </a:solidFill>
                <a:latin typeface="Calibri"/>
              </a:defRPr>
            </a:pPr>
            <a:r>
              <a:t>8. Analyze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87000" y="54864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8D6E5"/>
                </a:solidFill>
                <a:latin typeface="Calibri"/>
              </a:defRPr>
            </a:pPr>
            <a:r>
              <a:t>Area, bbox,</a:t>
            </a:r>
            <a:br/>
            <a:r>
              <a:t>centroid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Feature Detection — Distinctive Keypoints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Repeatable, distinctive points that enable matching, tracking, and recognition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097280"/>
            <a:ext cx="274320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370332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7033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Harris Corners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Corner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Measures intensity change in all 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6946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Flat = no feature, Edge = weak, Corner = strong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9864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98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Fast computation, good for 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2783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27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NOT scale-invariant (misses at different zooms)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55701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570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Parameters: blockSize, ksize, k (sensitivity)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79" y="3977639"/>
            <a:ext cx="342900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233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cv2.cornerHarris(gray, 2, 3, 0.04)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80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Performance: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764024"/>
            <a:ext cx="219456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17320" y="4764024"/>
            <a:ext cx="2084831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4" y="47091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29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" y="5084064"/>
            <a:ext cx="219456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17320" y="5084064"/>
            <a:ext cx="1097280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87752" y="5029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Scale Inv.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17320" y="5404104"/>
            <a:ext cx="219456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17320" y="5404104"/>
            <a:ext cx="438912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9384" y="5349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1371600"/>
            <a:ext cx="370332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06240" y="1371600"/>
            <a:ext cx="370332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15087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32"/>
                </a:solidFill>
                <a:latin typeface="Calibri"/>
              </a:defRPr>
            </a:pPr>
            <a:r>
              <a:t>SIFT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182880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Scale-Invariant Feature Transform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2240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3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2240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4 steps: DoG → Localize → Orient → Describe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256946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3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Invariant to scale AND rotation changes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289864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3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2898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128-dimensional float descriptor per keypoint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322783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3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3227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Most accurate for matching across viewpoints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355701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32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35570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Slower — not ideal for real-time use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3977639"/>
            <a:ext cx="342900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59" y="40233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8C32"/>
                </a:solidFill>
                <a:latin typeface="Calibri"/>
              </a:defRPr>
            </a:pPr>
            <a:r>
              <a:t>sift = cv2.SIFT_create()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4480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Performance: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4709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49240" y="4764024"/>
            <a:ext cx="219456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49240" y="4764024"/>
            <a:ext cx="658368" cy="1371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59" y="47091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2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029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49240" y="5084064"/>
            <a:ext cx="219456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349240" y="5084064"/>
            <a:ext cx="2084831" cy="1371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07223" y="5029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2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Scale Inv.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49240" y="5404104"/>
            <a:ext cx="219456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49240" y="5404104"/>
            <a:ext cx="2084831" cy="13716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07223" y="5349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32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38160" y="1371600"/>
            <a:ext cx="3703320" cy="521208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38160" y="1371600"/>
            <a:ext cx="370332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21040" y="15087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DE08E"/>
                </a:solidFill>
                <a:latin typeface="Calibri"/>
              </a:defRPr>
            </a:pPr>
            <a:r>
              <a:t>ORB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182880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Oriented FAST + Rotated BRIEF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66760" y="22402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E08E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95360" y="2240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FAST corner detection + BRIEF descriptors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66760" y="256946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E08E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95360" y="25694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Rotation invariant, partial scale invariance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66760" y="289864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E08E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95360" y="2898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32-byte binary descriptor (very compact!)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66760" y="322783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E08E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95360" y="3227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10× faster than SIFT, completely free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66760" y="355701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DE08E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95360" y="35570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Best balance of speed and quality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275320" y="3977639"/>
            <a:ext cx="3429000" cy="36576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12480" y="40233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E08E"/>
                </a:solidFill>
                <a:latin typeface="Calibri"/>
              </a:defRPr>
            </a:pPr>
            <a:r>
              <a:t>orb = cv2.ORB_create(nfeatures=1000)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1040" y="4480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Performance: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040" y="4709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81160" y="4764024"/>
            <a:ext cx="219456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81160" y="4764024"/>
            <a:ext cx="1975104" cy="13716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329416" y="47091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DE08E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21040" y="5029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81160" y="5084064"/>
            <a:ext cx="219456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281160" y="5084064"/>
            <a:ext cx="1536192" cy="13716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890504" y="5029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DE08E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2104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829E"/>
                </a:solidFill>
                <a:latin typeface="Calibri"/>
              </a:defRPr>
            </a:pPr>
            <a:r>
              <a:t>Scale Inv.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281160" y="5404104"/>
            <a:ext cx="2194560" cy="137160"/>
          </a:xfrm>
          <a:prstGeom prst="rect">
            <a:avLst/>
          </a:prstGeom>
          <a:solidFill>
            <a:srgbClr val="1E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281160" y="5404104"/>
            <a:ext cx="1426464" cy="13716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780776" y="5349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DE08E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6537960"/>
            <a:ext cx="11247120" cy="2286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0080" y="655624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93D"/>
                </a:solidFill>
                <a:latin typeface="Calibri"/>
              </a:defRPr>
            </a:pPr>
            <a:r>
              <a:t>Choose: Harris for simple real-time corners  |  SIFT for max accuracy  |  ORB for real-time + good quality (10× faster, free, 32-byte descriptors)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Feature Matching Between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Connecting keypoints across different views to find correspondences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097280"/>
            <a:ext cx="274320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943600" cy="32004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06AF0"/>
                </a:solidFill>
                <a:latin typeface="Calibri"/>
              </a:defRPr>
            </a:pPr>
            <a:r>
              <a:t>How Feature Matching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Detect keypoints in both images. Each keypoint gets a descriptor (a numerical</a:t>
            </a:r>
            <a:br/>
            <a:r>
              <a:t>fingerprint). Match descriptors between images by finding the most similar pairs.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23160"/>
            <a:ext cx="2103120" cy="16459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Calibri"/>
              </a:defRPr>
            </a:pPr>
            <a:r>
              <a:t>Image A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2834640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54480" y="3108960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20240" y="2926080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86000" y="3291840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383280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DE08E"/>
                </a:solidFill>
                <a:latin typeface="Calibri"/>
              </a:defRPr>
            </a:pPr>
            <a:r>
              <a:t>match</a:t>
            </a:r>
            <a:br/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2423160"/>
            <a:ext cx="2103120" cy="164592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24688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32"/>
                </a:solidFill>
                <a:latin typeface="Calibri"/>
              </a:defRPr>
            </a:pPr>
            <a:r>
              <a:t>Image B (rotated/scaled)</a:t>
            </a:r>
          </a:p>
        </p:txBody>
      </p:sp>
      <p:sp>
        <p:nvSpPr>
          <p:cNvPr id="20" name="Oval 19"/>
          <p:cNvSpPr/>
          <p:nvPr/>
        </p:nvSpPr>
        <p:spPr>
          <a:xfrm>
            <a:off x="3931920" y="2880360"/>
            <a:ext cx="109728" cy="109728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97680" y="3154680"/>
            <a:ext cx="109728" cy="109728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63440" y="2971800"/>
            <a:ext cx="109728" cy="109728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200" y="3337560"/>
            <a:ext cx="109728" cy="109728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0" y="3429000"/>
            <a:ext cx="109728" cy="109728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75120" y="1371600"/>
            <a:ext cx="5029200" cy="32004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14630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Two Matching Algorithms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1920240"/>
            <a:ext cx="4480560" cy="10972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49440" y="1920240"/>
            <a:ext cx="44805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20116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BFMatcher (Brute-Force)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286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Compares every descriptor in Image A with every descriptor in Image B.</a:t>
            </a:r>
            <a:br/>
            <a:r>
              <a:t>Simple and accurate, but O(n²) — slow for large feature sets.</a:t>
            </a:r>
            <a:br/>
            <a:r>
              <a:t>bf = cv2.BFMatcher(cv2.NORM_HAMMING, crossCheck=True)  # for ORB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3154680"/>
            <a:ext cx="4480560" cy="109728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0" y="3154680"/>
            <a:ext cx="448056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246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DE08E"/>
                </a:solidFill>
                <a:latin typeface="Calibri"/>
              </a:defRPr>
            </a:pPr>
            <a:r>
              <a:t>FLANN (Fast Library for Approx Nearest Neighbors)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520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Uses KD-trees or LSH to approximate nearest neighbors.</a:t>
            </a:r>
            <a:br/>
            <a:r>
              <a:t>Much faster than brute-force for large datasets.</a:t>
            </a:r>
            <a:br/>
            <a:r>
              <a:t>flann = cv2.FlannBasedMatcher(index_params, search_params)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846320"/>
            <a:ext cx="11247120" cy="18288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Complete Feature Matching Pipeline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349240"/>
            <a:ext cx="2011680" cy="11430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349240"/>
            <a:ext cx="20116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19" y="5440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Calibri"/>
              </a:defRPr>
            </a:pPr>
            <a:r>
              <a:t>1. Detect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19" y="56692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Create detector</a:t>
            </a:r>
            <a:br/>
            <a:r>
              <a:t>(SIFT or ORB).</a:t>
            </a:r>
            <a:br/>
            <a:r>
              <a:t>Find keypoints +</a:t>
            </a:r>
            <a:br/>
            <a:r>
              <a:t>descriptors.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33472" y="57150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34639" y="5349240"/>
            <a:ext cx="2011680" cy="11430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34639" y="5349240"/>
            <a:ext cx="201168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79" y="5440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32"/>
                </a:solidFill>
                <a:latin typeface="Calibri"/>
              </a:defRPr>
            </a:pPr>
            <a:r>
              <a:t>2. Match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79" y="56692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BFMatcher or</a:t>
            </a:r>
            <a:br/>
            <a:r>
              <a:t>FLANN compares</a:t>
            </a:r>
            <a:br/>
            <a:r>
              <a:t>all descriptor</a:t>
            </a:r>
            <a:br/>
            <a:r>
              <a:t>pairs.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28031" y="57150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0" y="5349240"/>
            <a:ext cx="2011680" cy="11430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5349240"/>
            <a:ext cx="2011680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0" y="5440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DE08E"/>
                </a:solidFill>
                <a:latin typeface="Calibri"/>
              </a:defRPr>
            </a:pPr>
            <a:r>
              <a:t>3. Filter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56692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Sort matches by</a:t>
            </a:r>
            <a:br/>
            <a:r>
              <a:t>distance. Keep</a:t>
            </a:r>
            <a:br/>
            <a:r>
              <a:t>top N or use</a:t>
            </a:r>
            <a:br/>
            <a:r>
              <a:t>Lowe's ratio test.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22592" y="57150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23759" y="5349240"/>
            <a:ext cx="2011680" cy="11430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223759" y="5349240"/>
            <a:ext cx="2011680" cy="4572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199" y="5440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06AF0"/>
                </a:solidFill>
                <a:latin typeface="Calibri"/>
              </a:defRPr>
            </a:pPr>
            <a:r>
              <a:t>4. Verify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199" y="56692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RANSAC to reject</a:t>
            </a:r>
            <a:br/>
            <a:r>
              <a:t>outliers. Compute</a:t>
            </a:r>
            <a:br/>
            <a:r>
              <a:t>homography for</a:t>
            </a:r>
            <a:br/>
            <a:r>
              <a:t>perspective warp.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17152" y="57150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18319" y="5349240"/>
            <a:ext cx="2011680" cy="11430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18319" y="5349240"/>
            <a:ext cx="201168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09759" y="5440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93D"/>
                </a:solidFill>
                <a:latin typeface="Calibri"/>
              </a:defRPr>
            </a:pPr>
            <a:r>
              <a:t>5. Apply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9759" y="56692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6E5"/>
                </a:solidFill>
                <a:latin typeface="Calibri"/>
              </a:defRPr>
            </a:pPr>
            <a:r>
              <a:t>Stitch panoramas,</a:t>
            </a:r>
            <a:br/>
            <a:r>
              <a:t>recognize objects,</a:t>
            </a:r>
            <a:br/>
            <a:r>
              <a:t>track motion,</a:t>
            </a:r>
            <a:br/>
            <a:r>
              <a:t>align images.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Histograms — Reading Image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Understanding pixel intensity distributions for analysis and enhancement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097280"/>
            <a:ext cx="2743200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94360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32"/>
                </a:solidFill>
                <a:latin typeface="Calibri"/>
              </a:defRPr>
            </a:pPr>
            <a:r>
              <a:t>What is an Image Histogram?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A histogram counts how many pixels have each intensity value (0–255).</a:t>
            </a:r>
            <a:br/>
            <a:r>
              <a:t>The X-axis is the intensity, Y-axis is the frequency (how many pixels).</a:t>
            </a:r>
            <a:br/>
            <a:r>
              <a:t>It tells you about the image's brightness, contrast, and content.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5394960" cy="137160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584448"/>
            <a:ext cx="201168" cy="73152"/>
          </a:xfrm>
          <a:prstGeom prst="rect">
            <a:avLst/>
          </a:prstGeom>
          <a:solidFill>
            <a:srgbClr val="708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2144" y="3547872"/>
            <a:ext cx="201168" cy="109728"/>
          </a:xfrm>
          <a:prstGeom prst="rect">
            <a:avLst/>
          </a:prstGeom>
          <a:solidFill>
            <a:srgbClr val="708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89888" y="3493008"/>
            <a:ext cx="201168" cy="164592"/>
          </a:xfrm>
          <a:prstGeom prst="rect">
            <a:avLst/>
          </a:prstGeom>
          <a:solidFill>
            <a:srgbClr val="708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27632" y="3456432"/>
            <a:ext cx="201168" cy="201168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65376" y="3383280"/>
            <a:ext cx="201168" cy="27432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03120" y="3246120"/>
            <a:ext cx="201168" cy="411480"/>
          </a:xfrm>
          <a:prstGeom prst="rect">
            <a:avLst/>
          </a:prstGeom>
          <a:solidFill>
            <a:srgbClr val="325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40864" y="3108960"/>
            <a:ext cx="201168" cy="548640"/>
          </a:xfrm>
          <a:prstGeom prst="rect">
            <a:avLst/>
          </a:prstGeom>
          <a:solidFill>
            <a:srgbClr val="3C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608" y="2926080"/>
            <a:ext cx="201168" cy="7315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2788920"/>
            <a:ext cx="201168" cy="868680"/>
          </a:xfrm>
          <a:prstGeom prst="rect">
            <a:avLst/>
          </a:prstGeom>
          <a:solidFill>
            <a:srgbClr val="50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54096" y="2880360"/>
            <a:ext cx="201168" cy="777240"/>
          </a:xfrm>
          <a:prstGeom prst="rect">
            <a:avLst/>
          </a:prstGeom>
          <a:solidFill>
            <a:srgbClr val="64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063240"/>
            <a:ext cx="201168" cy="59436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9584" y="3200400"/>
            <a:ext cx="201168" cy="457200"/>
          </a:xfrm>
          <a:prstGeom prst="rect">
            <a:avLst/>
          </a:prstGeom>
          <a:solidFill>
            <a:srgbClr val="64C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67328" y="3291840"/>
            <a:ext cx="201168" cy="365760"/>
          </a:xfrm>
          <a:prstGeom prst="rect">
            <a:avLst/>
          </a:prstGeom>
          <a:solidFill>
            <a:srgbClr val="78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05072" y="3154680"/>
            <a:ext cx="201168" cy="5029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2816" y="3017520"/>
            <a:ext cx="201168" cy="640080"/>
          </a:xfrm>
          <a:prstGeom prst="rect">
            <a:avLst/>
          </a:prstGeom>
          <a:solidFill>
            <a:srgbClr val="DC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2834640"/>
            <a:ext cx="201168" cy="82296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18304" y="2971800"/>
            <a:ext cx="201168" cy="685800"/>
          </a:xfrm>
          <a:prstGeom prst="rect">
            <a:avLst/>
          </a:prstGeom>
          <a:solidFill>
            <a:srgbClr val="C8B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56048" y="3154680"/>
            <a:ext cx="201168" cy="502920"/>
          </a:xfrm>
          <a:prstGeom prst="rect">
            <a:avLst/>
          </a:prstGeom>
          <a:solidFill>
            <a:srgbClr val="B4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93792" y="3364992"/>
            <a:ext cx="201168" cy="292608"/>
          </a:xfrm>
          <a:prstGeom prst="rect">
            <a:avLst/>
          </a:prstGeom>
          <a:solidFill>
            <a:srgbClr val="8C6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31536" y="3520440"/>
            <a:ext cx="201168" cy="137160"/>
          </a:xfrm>
          <a:prstGeom prst="rect">
            <a:avLst/>
          </a:prstGeom>
          <a:solidFill>
            <a:srgbClr val="708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0" y="3584448"/>
            <a:ext cx="201168" cy="73152"/>
          </a:xfrm>
          <a:prstGeom prst="rect">
            <a:avLst/>
          </a:prstGeom>
          <a:solidFill>
            <a:srgbClr val="708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25603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0829E"/>
                </a:solidFill>
                <a:latin typeface="Calibri"/>
              </a:defRPr>
            </a:pPr>
            <a:r>
              <a:t>Count 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7033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0829E"/>
                </a:solidFill>
                <a:latin typeface="Calibri"/>
              </a:defRPr>
            </a:pPr>
            <a:r>
              <a:t>0 ←─── Pixel Intensity ───→ 255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1371600"/>
            <a:ext cx="5029200" cy="27432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Reading a Histogram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The shape of the histogram instantly tells you about image quality.</a:t>
            </a:r>
            <a:br/>
            <a:r>
              <a:t>Use this knowledge to decide if enhancement is needed.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2377440"/>
            <a:ext cx="54864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2350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Peak clustered LEFT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23500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Underexposed (too dark)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23500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Increase brightness or use equalization.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2724912"/>
            <a:ext cx="54864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93D"/>
                </a:solidFill>
                <a:latin typeface="Calibri"/>
              </a:defRPr>
            </a:pPr>
            <a:r>
              <a:t>Peak clustered RIGHT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2697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Overexposed (too bright)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Reduce exposure or gamma correction.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3072384"/>
            <a:ext cx="54864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86600" y="30449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555"/>
                </a:solidFill>
                <a:latin typeface="Calibri"/>
              </a:defRPr>
            </a:pPr>
            <a:r>
              <a:t>Narrow peak (center)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30449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Low contrast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5560" y="3044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Stretch/equalize to use full range.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3419856"/>
            <a:ext cx="54864" cy="4572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33924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DE08E"/>
                </a:solidFill>
                <a:latin typeface="Calibri"/>
              </a:defRPr>
            </a:pPr>
            <a:r>
              <a:t>Spread across full range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0" y="33924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Good contrast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5560" y="3392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No enhancement needed — ideal histogram.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3767328"/>
            <a:ext cx="54864" cy="4572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86600" y="37398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Two distinct peaks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37398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Bimodal — 2 groups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95560" y="37398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829E"/>
                </a:solidFill>
                <a:latin typeface="Calibri"/>
              </a:defRPr>
            </a:pPr>
            <a:r>
              <a:t>Object vs background — great for Otsu's.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389120"/>
            <a:ext cx="5486400" cy="22860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4480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DE08E"/>
                </a:solidFill>
                <a:latin typeface="Calibri"/>
              </a:defRPr>
            </a:pPr>
            <a:r>
              <a:t>Histogram Equalization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8463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Stretches the pixel distribution to use the full 0–255 range.</a:t>
            </a:r>
            <a:br/>
            <a:r>
              <a:t>Makes dark images brighter and low-contrast images sharper.</a:t>
            </a:r>
            <a:br/>
            <a:br/>
            <a:r>
              <a:t>Standard equalization applies globally — can over-brighten</a:t>
            </a:r>
            <a:br/>
            <a:r>
              <a:t>already bright areas and introduce noise.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5852160"/>
            <a:ext cx="4937760" cy="50292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8978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Code: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6080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E08E"/>
                </a:solidFill>
                <a:latin typeface="Calibri"/>
              </a:defRPr>
            </a:pPr>
            <a:r>
              <a:t>equalized = cv2.equalizeHist(gray)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4389120"/>
            <a:ext cx="5486400" cy="22860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4480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C4B2"/>
                </a:solidFill>
                <a:latin typeface="Calibri"/>
              </a:defRPr>
            </a:pPr>
            <a:r>
              <a:t>CLAHE — Adaptive Equalization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48463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Contrast Limited Adaptive Histogram Equalization.</a:t>
            </a:r>
            <a:br/>
            <a:r>
              <a:t>Divides image into tiles, equalizes each tile separately.</a:t>
            </a:r>
            <a:br/>
            <a:br/>
            <a:r>
              <a:t>clipLimit prevents over-amplification of noise.</a:t>
            </a:r>
            <a:br/>
            <a:r>
              <a:t>Much better results than global equalization for real images.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92240" y="5852160"/>
            <a:ext cx="4937760" cy="502920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0" y="58978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829E"/>
                </a:solidFill>
                <a:latin typeface="Calibri"/>
              </a:defRPr>
            </a:pPr>
            <a:r>
              <a:t>Code: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6080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C4B2"/>
                </a:solidFill>
                <a:latin typeface="Calibri"/>
              </a:defRPr>
            </a:pPr>
            <a:r>
              <a:t>clahe = cv2.createCLAHE(clipLimit=2.0, tileGridSize=(8,8))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Complete Pipeline &amp; Airplane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0829E"/>
                </a:solidFill>
                <a:latin typeface="Calibri"/>
              </a:defRPr>
            </a:pPr>
            <a:r>
              <a:t>How today's techniques connect into a working analysis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097280"/>
            <a:ext cx="2743200" cy="45720"/>
          </a:xfrm>
          <a:prstGeom prst="rect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32588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533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Calibri"/>
              </a:defRPr>
            </a:pPr>
            <a:r>
              <a:t>Read 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325880"/>
            <a:ext cx="4114800" cy="384048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38074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cv2.imread('image.jpg')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380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Load the raw BGR image from disk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1783080"/>
            <a:ext cx="36576" cy="18288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1947672"/>
            <a:ext cx="411480" cy="41148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97510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32"/>
                </a:solidFill>
                <a:latin typeface="Calibri"/>
              </a:defRPr>
            </a:pPr>
            <a:r>
              <a:t>Grayscale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1947672"/>
            <a:ext cx="4114800" cy="384048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20025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cv2.cvtColor(img, COLOR_BGR2GRAY)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0025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Reduce to single intensity channel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2404872"/>
            <a:ext cx="36576" cy="18288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2569464"/>
            <a:ext cx="411480" cy="41148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5968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E08E"/>
                </a:solidFill>
                <a:latin typeface="Calibri"/>
              </a:defRPr>
            </a:pPr>
            <a:r>
              <a:t>Blur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2569464"/>
            <a:ext cx="4114800" cy="384048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26243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cv2.GaussianBlur(gray, (5,5), 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6243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Smooth noise for cleaner processing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3026664"/>
            <a:ext cx="36576" cy="18288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8640" y="3191256"/>
            <a:ext cx="411480" cy="41148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2186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06AF0"/>
                </a:solidFill>
                <a:latin typeface="Calibri"/>
              </a:defRPr>
            </a:pPr>
            <a:r>
              <a:t>Threshold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3191256"/>
            <a:ext cx="4114800" cy="384048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97480" y="3246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cv2.threshold(blur, 0, 255, OTSU)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Binary segmentation (foreground/bg)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3648456"/>
            <a:ext cx="36576" cy="18288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8640" y="3813048"/>
            <a:ext cx="411480" cy="41148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840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5555"/>
                </a:solidFill>
                <a:latin typeface="Calibri"/>
              </a:defRPr>
            </a:pPr>
            <a:r>
              <a:t>Morphology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3813048"/>
            <a:ext cx="4114800" cy="384048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80" y="386791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morphologyEx(OPEN) + (CLOSE)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86791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Clean noise specks, fill holes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4270248"/>
            <a:ext cx="36576" cy="18288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8640" y="4434840"/>
            <a:ext cx="411480" cy="41148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462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Calibri"/>
              </a:defRPr>
            </a:pPr>
            <a:r>
              <a:t>Contours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0" y="4434840"/>
            <a:ext cx="4114800" cy="384048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448970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findContours(clean, RETR_EXTERNAL)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4897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Extract and measure all shapes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" y="4892040"/>
            <a:ext cx="36576" cy="182880"/>
          </a:xfrm>
          <a:prstGeom prst="rect">
            <a:avLst/>
          </a:prstGeom>
          <a:solidFill>
            <a:srgbClr val="44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8640" y="5056632"/>
            <a:ext cx="411480" cy="411480"/>
          </a:xfrm>
          <a:prstGeom prst="ellipse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084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C4B2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60320" y="5056632"/>
            <a:ext cx="4114800" cy="384048"/>
          </a:xfrm>
          <a:prstGeom prst="roundRect">
            <a:avLst/>
          </a:prstGeom>
          <a:solidFill>
            <a:srgbClr val="1E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97480" y="51114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ORB_create() → detectAndCompute()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1114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Find keypoints for matching/tracking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760720"/>
            <a:ext cx="11247120" cy="100584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5760720"/>
            <a:ext cx="11247120" cy="4572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852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5555"/>
                </a:solidFill>
                <a:latin typeface="Calibri"/>
              </a:defRPr>
            </a:pPr>
            <a:r>
              <a:t>✈  Airplane Turnaround — How Day 2 Applies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1722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Thresholding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617220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Separate aircraft from tarmac background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4840" y="61722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DE08E"/>
                </a:solidFill>
                <a:latin typeface="Calibri"/>
              </a:defRPr>
            </a:pPr>
            <a:r>
              <a:t>Canny Edges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06440" y="617220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Find outlines of aircraft, jet bridges, equipment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617220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06AF0"/>
                </a:solidFill>
                <a:latin typeface="Calibri"/>
              </a:defRPr>
            </a:pPr>
            <a:r>
              <a:t>Morphology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617220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Clean noisy detections from surveillance footage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4465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555"/>
                </a:solidFill>
                <a:latin typeface="Calibri"/>
              </a:defRPr>
            </a:pPr>
            <a:r>
              <a:t>Contours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03120" y="644652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Measure position &amp; size of detected objects per frame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4840" y="64465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93D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06440" y="644652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Track specific aircraft parts across video frames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38160" y="64465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32"/>
                </a:solidFill>
                <a:latin typeface="Calibri"/>
              </a:defRPr>
            </a:pPr>
            <a:r>
              <a:t>Histograms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9760" y="644652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6E5"/>
                </a:solidFill>
                <a:latin typeface="Calibri"/>
              </a:defRPr>
            </a:pPr>
            <a:r>
              <a:t>Detect lighting/activity changes over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Day 2 —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777240"/>
            <a:ext cx="2743200" cy="4572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1247120" cy="6858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64008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14300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0698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Thresholding creates binary images from grayscale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Otsu's finds the best threshold automatically. Adaptive handles shadows. Always blur before thresholding.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56231"/>
            <a:ext cx="11247120" cy="6858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56231"/>
            <a:ext cx="64008" cy="685800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1947672"/>
            <a:ext cx="411480" cy="41148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87451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32"/>
                </a:solidFill>
                <a:latin typeface="Calibri"/>
              </a:defRPr>
            </a:pPr>
            <a:r>
              <a:t>Gradients measure intensity change — the math behind edges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17627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Sobel computes directional change (X or Y). Magnitude = edge strength. Use CV_64F to keep negatives.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60904"/>
            <a:ext cx="11247120" cy="6858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60904"/>
            <a:ext cx="64008" cy="685800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2752344"/>
            <a:ext cx="411480" cy="41148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6791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E08E"/>
                </a:solidFill>
                <a:latin typeface="Calibri"/>
              </a:defRPr>
            </a:pPr>
            <a:r>
              <a:t>Canny is the gold standard 4-step edge detector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98094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Blur → Gradient → Non-max suppression → Hysteresis. Use Auto-Canny for adaptive threshold selection.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465576"/>
            <a:ext cx="11247120" cy="6858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65576"/>
            <a:ext cx="64008" cy="685800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3557016"/>
            <a:ext cx="411480" cy="41148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4838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06AF0"/>
                </a:solidFill>
                <a:latin typeface="Calibri"/>
              </a:defRPr>
            </a:pPr>
            <a:r>
              <a:t>Morphology cleans binary images before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785615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Opening (erode→dilate) removes noise. Closing (dilate→erode) fills holes. Essential pre-processing step.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270248"/>
            <a:ext cx="11247120" cy="6858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270248"/>
            <a:ext cx="64008" cy="685800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61688"/>
            <a:ext cx="411480" cy="41148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2885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5555"/>
                </a:solidFill>
                <a:latin typeface="Calibri"/>
              </a:defRPr>
            </a:pPr>
            <a:r>
              <a:t>Contours give you measurable, classifiable shapes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5902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Area, perimeter, bounding box, centroid. Filter by area &gt; 500. Approximate to count vertices for classification.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74920"/>
            <a:ext cx="11247120" cy="685800"/>
          </a:xfrm>
          <a:prstGeom prst="roundRect">
            <a:avLst/>
          </a:prstGeom>
          <a:solidFill>
            <a:srgbClr val="12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074920"/>
            <a:ext cx="64008" cy="6858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" y="5166360"/>
            <a:ext cx="411480" cy="41148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9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0932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Calibri"/>
              </a:defRPr>
            </a:pPr>
            <a:r>
              <a:t>Features enable cross-image matching and tracking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394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Harris for corners. SIFT for accuracy. ORB for real-time (10× faster, free). BFMatcher or FLANN to match.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035040"/>
            <a:ext cx="11247120" cy="594360"/>
          </a:xfrm>
          <a:prstGeom prst="roundRect">
            <a:avLst/>
          </a:prstGeom>
          <a:solidFill>
            <a:srgbClr val="18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6035040"/>
            <a:ext cx="11247120" cy="45720"/>
          </a:xfrm>
          <a:prstGeom prst="rect">
            <a:avLst/>
          </a:prstGeom>
          <a:solidFill>
            <a:srgbClr val="2DC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0807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C4B2"/>
                </a:solidFill>
                <a:latin typeface="Calibri"/>
              </a:defRPr>
            </a:pPr>
            <a:r>
              <a:t>TOMORROW — Day 3: Video Analysis &amp; Object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3550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829E"/>
                </a:solidFill>
                <a:latin typeface="Calibri"/>
              </a:defRPr>
            </a:pPr>
            <a:r>
              <a:t>Frame differencing  •  Background subtraction  •  Optical flow  •  Object tracking algorithms  —  turning static analysis into dynamic motion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