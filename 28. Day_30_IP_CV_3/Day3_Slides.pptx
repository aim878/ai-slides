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DAY 3  |  COMPUTER VISION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Video Analysis, Motion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D4FF"/>
                </a:solidFill>
                <a:latin typeface="Calibri"/>
              </a:defRPr>
            </a:pPr>
            <a:r>
              <a:t>&amp; Object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926080"/>
            <a:ext cx="39319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0829E"/>
                </a:solidFill>
                <a:latin typeface="Calibri"/>
              </a:defRPr>
            </a:pPr>
            <a:r>
              <a:t>From static image analysis to dynamic video understanding</a:t>
            </a:r>
          </a:p>
        </p:txBody>
      </p:sp>
      <p:sp>
        <p:nvSpPr>
          <p:cNvPr id="9" name="Chevron 8"/>
          <p:cNvSpPr/>
          <p:nvPr/>
        </p:nvSpPr>
        <p:spPr>
          <a:xfrm>
            <a:off x="548640" y="3931920"/>
            <a:ext cx="1737360" cy="640080"/>
          </a:xfrm>
          <a:prstGeom prst="chevro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VIDEO</a:t>
            </a:r>
            <a:br/>
            <a:r>
              <a:t>BASICS</a:t>
            </a:r>
          </a:p>
        </p:txBody>
      </p:sp>
      <p:sp>
        <p:nvSpPr>
          <p:cNvPr id="11" name="Chevron 10"/>
          <p:cNvSpPr/>
          <p:nvPr/>
        </p:nvSpPr>
        <p:spPr>
          <a:xfrm>
            <a:off x="2468880" y="3931920"/>
            <a:ext cx="1737360" cy="640080"/>
          </a:xfrm>
          <a:prstGeom prst="chevron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FRAME</a:t>
            </a:r>
            <a:br/>
            <a:r>
              <a:t>DIFF</a:t>
            </a:r>
          </a:p>
        </p:txBody>
      </p:sp>
      <p:sp>
        <p:nvSpPr>
          <p:cNvPr id="13" name="Chevron 12"/>
          <p:cNvSpPr/>
          <p:nvPr/>
        </p:nvSpPr>
        <p:spPr>
          <a:xfrm>
            <a:off x="4389120" y="3931920"/>
            <a:ext cx="1737360" cy="640080"/>
          </a:xfrm>
          <a:prstGeom prst="chevron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BACKGROUND</a:t>
            </a:r>
            <a:br/>
            <a:r>
              <a:t>SUB</a:t>
            </a:r>
          </a:p>
        </p:txBody>
      </p:sp>
      <p:sp>
        <p:nvSpPr>
          <p:cNvPr id="15" name="Chevron 14"/>
          <p:cNvSpPr/>
          <p:nvPr/>
        </p:nvSpPr>
        <p:spPr>
          <a:xfrm>
            <a:off x="6309360" y="3931920"/>
            <a:ext cx="1737360" cy="640080"/>
          </a:xfrm>
          <a:prstGeom prst="chevron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OPTICAL</a:t>
            </a:r>
            <a:br/>
            <a:r>
              <a:t>FLOW</a:t>
            </a:r>
          </a:p>
        </p:txBody>
      </p:sp>
      <p:sp>
        <p:nvSpPr>
          <p:cNvPr id="17" name="Chevron 16"/>
          <p:cNvSpPr/>
          <p:nvPr/>
        </p:nvSpPr>
        <p:spPr>
          <a:xfrm>
            <a:off x="8229600" y="3931920"/>
            <a:ext cx="1737360" cy="640080"/>
          </a:xfrm>
          <a:prstGeom prst="chevron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OBJECT</a:t>
            </a:r>
            <a:br/>
            <a:r>
              <a:t>TRACK</a:t>
            </a:r>
          </a:p>
        </p:txBody>
      </p:sp>
      <p:sp>
        <p:nvSpPr>
          <p:cNvPr id="19" name="Chevron 18"/>
          <p:cNvSpPr/>
          <p:nvPr/>
        </p:nvSpPr>
        <p:spPr>
          <a:xfrm>
            <a:off x="10149840" y="3931920"/>
            <a:ext cx="1737360" cy="640080"/>
          </a:xfrm>
          <a:prstGeom prst="chevron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3977639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MULTI-OBJ</a:t>
            </a:r>
            <a:br/>
            <a:r>
              <a:t>TRACK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029200"/>
            <a:ext cx="292608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120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0829E"/>
                </a:solidFill>
                <a:latin typeface="Calibri"/>
              </a:defRPr>
            </a:pPr>
            <a:r>
              <a:t>DAYS 1-2: STATIC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Single image analysis</a:t>
            </a:r>
            <a:br/>
            <a:r>
              <a:t>Edges, contours, features</a:t>
            </a:r>
            <a:br/>
            <a:r>
              <a:t>One frame at a time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206240" y="5532120"/>
            <a:ext cx="640080" cy="237744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5029200"/>
            <a:ext cx="292608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5029200"/>
            <a:ext cx="29260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5120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Calibri"/>
              </a:defRPr>
            </a:pPr>
            <a:r>
              <a:t>DAY 3: DYNAMIC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440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Sequences of frames</a:t>
            </a:r>
            <a:br/>
            <a:r>
              <a:t>Motion &amp; tracking</a:t>
            </a:r>
            <a:br/>
            <a:r>
              <a:t>Objects over time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138160" y="5532120"/>
            <a:ext cx="640080" cy="237744"/>
          </a:xfrm>
          <a:prstGeom prst="rightArrow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0" y="5029200"/>
            <a:ext cx="274320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0" y="5029200"/>
            <a:ext cx="27432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5120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93D"/>
                </a:solidFill>
                <a:latin typeface="Calibri"/>
              </a:defRPr>
            </a:pPr>
            <a:r>
              <a:t>PROJECT GOAL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440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Airplane turnaround</a:t>
            </a:r>
            <a:br/>
            <a:r>
              <a:t>Activity timeline</a:t>
            </a:r>
            <a:br/>
            <a:r>
              <a:t>Event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Video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A video is a sequence of still images — everything from Days 1 &amp; 2 applies frame by 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What is a Video to a Computer?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 video playing at 30 FPS shows 30 separate images every second.</a:t>
            </a:r>
            <a:br/>
            <a:r>
              <a:t>Each frame is a NumPy array — identical to what we processed on</a:t>
            </a:r>
            <a:br/>
            <a:r>
              <a:t>Days 1 and 2. We just run our processing in a while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548640" cy="731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2761488"/>
            <a:ext cx="438912" cy="457200"/>
          </a:xfrm>
          <a:prstGeom prst="rect">
            <a:avLst/>
          </a:prstGeom>
          <a:solidFill>
            <a:srgbClr val="324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44752" y="2697480"/>
            <a:ext cx="548640" cy="731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99616" y="2761488"/>
            <a:ext cx="438912" cy="457200"/>
          </a:xfrm>
          <a:prstGeom prst="rect">
            <a:avLst/>
          </a:prstGeom>
          <a:solidFill>
            <a:srgbClr val="4B5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24612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F2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66544" y="2697480"/>
            <a:ext cx="548640" cy="731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21408" y="2761488"/>
            <a:ext cx="438912" cy="457200"/>
          </a:xfrm>
          <a:prstGeom prst="rect">
            <a:avLst/>
          </a:prstGeom>
          <a:solidFill>
            <a:srgbClr val="64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4832" y="324612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F3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88336" y="2697480"/>
            <a:ext cx="548640" cy="731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2761488"/>
            <a:ext cx="438912" cy="457200"/>
          </a:xfrm>
          <a:prstGeom prst="rect">
            <a:avLst/>
          </a:prstGeom>
          <a:solidFill>
            <a:srgbClr val="7D8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06624" y="324612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F4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0128" y="2697480"/>
            <a:ext cx="548640" cy="731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4992" y="2761488"/>
            <a:ext cx="438912" cy="457200"/>
          </a:xfrm>
          <a:prstGeom prst="rect">
            <a:avLst/>
          </a:prstGeom>
          <a:solidFill>
            <a:srgbClr val="96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28416" y="324612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F5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2697480"/>
            <a:ext cx="548640" cy="731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86784" y="2761488"/>
            <a:ext cx="438912" cy="457200"/>
          </a:xfrm>
          <a:prstGeom prst="rect">
            <a:avLst/>
          </a:prstGeom>
          <a:solidFill>
            <a:srgbClr val="AF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0208" y="324612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F6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53712" y="2697480"/>
            <a:ext cx="548640" cy="731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08576" y="2761488"/>
            <a:ext cx="438912" cy="457200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24612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F7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75504" y="2697480"/>
            <a:ext cx="548640" cy="731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30368" y="2761488"/>
            <a:ext cx="438912" cy="457200"/>
          </a:xfrm>
          <a:prstGeom prst="rect">
            <a:avLst/>
          </a:prstGeom>
          <a:solidFill>
            <a:srgbClr val="C8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3792" y="3246120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0829E"/>
                </a:solidFill>
                <a:latin typeface="Calibri"/>
              </a:defRPr>
            </a:pPr>
            <a:r>
              <a:t>F8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520440"/>
            <a:ext cx="5120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29E"/>
                </a:solidFill>
                <a:latin typeface="Calibri"/>
              </a:defRPr>
            </a:pPr>
            <a:r>
              <a:t>← Time →     8 frames shown  •  At 30 FPS this is ~0.27 seconds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280160"/>
            <a:ext cx="53035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Key Video Properties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1783080"/>
            <a:ext cx="4754880" cy="347472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75120" y="1783080"/>
            <a:ext cx="36576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1819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Frame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18196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Frames per second: 24 (cinema), 30, 60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2194560"/>
            <a:ext cx="4754880" cy="347472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2194560"/>
            <a:ext cx="36576" cy="34747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22311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32"/>
                </a:solidFill>
                <a:latin typeface="Calibri"/>
              </a:defRPr>
            </a:pPr>
            <a:r>
              <a:t>Resolution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2311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Width × Height pixels (1920×1080 = Full HD)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2606040"/>
            <a:ext cx="4754880" cy="347472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75120" y="2606040"/>
            <a:ext cx="36576" cy="34747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E08E"/>
                </a:solidFill>
                <a:latin typeface="Calibri"/>
              </a:defRPr>
            </a:pPr>
            <a:r>
              <a:t>Total Frames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6426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FPS × Duration (30 × 60s = 1,800 frames)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3017520"/>
            <a:ext cx="4754880" cy="347472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75120" y="3017520"/>
            <a:ext cx="36576" cy="34747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3054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6AF0"/>
                </a:solidFill>
                <a:latin typeface="Calibri"/>
              </a:defRPr>
            </a:pPr>
            <a:r>
              <a:t>Codec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0540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Compression: H.264, MPEG-4, MJPG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75120" y="3429000"/>
            <a:ext cx="4754880" cy="347472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75120" y="3429000"/>
            <a:ext cx="36576" cy="347472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0" y="34655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5555"/>
                </a:solidFill>
                <a:latin typeface="Calibri"/>
              </a:defRPr>
            </a:pPr>
            <a:r>
              <a:t>Duration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4655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Length in seconds — frames / FPS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297680"/>
            <a:ext cx="5669280" cy="23774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43891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Reading Video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6344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cap = cv2.VideoCapture('video.mp4')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while True: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ret, frame = cap.read()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if not ret: break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    # Process frame here (Day 1+2 techniques)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gray = cv2.cvtColor(frame, COLOR_BGR2GRAY)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cv2.imshow('Video', frame)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if cv2.waitKey(1) &amp; 0xFF == ord('q'): break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cap.release()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0" y="4297680"/>
            <a:ext cx="5303520" cy="23774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4389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Writing Video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46634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fourcc = cv2.VideoWriter_fourcc(*'mp4v')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out = cv2.VideoWriter('output.mp4',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fourcc, fps, (width, height))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In loop: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out.write(processed_frame)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After loop: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out.release()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603504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D"/>
                </a:solidFill>
                <a:latin typeface="Calibri"/>
              </a:defRPr>
            </a:pPr>
            <a:r>
              <a:t>Common codecs: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62636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mp4v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89520" y="62636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MPEG-4, widely compatible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64922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XVID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64922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Good compression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67208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MJPG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89520" y="6720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No artifacts, large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Frame Differencing — Simplest Motion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If nothing moves, consecutive frames are identical — subtract them to find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Core Concept — Subtraction Reveals 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743200" cy="1828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0829E"/>
                </a:solidFill>
                <a:latin typeface="Calibri"/>
              </a:defRPr>
            </a:pPr>
            <a:r>
              <a:t>Frame N-1 (previous)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25880" y="2148840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83080" y="2148840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80" y="2148840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2148840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2532888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532888"/>
            <a:ext cx="411480" cy="338328"/>
          </a:xfrm>
          <a:prstGeom prst="rect">
            <a:avLst/>
          </a:prstGeom>
          <a:solidFill>
            <a:srgbClr val="DCB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83080" y="2532888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0280" y="2532888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80" y="2532888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2916936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25880" y="2916936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83080" y="2916936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40280" y="2916936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97480" y="2916936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337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D93D"/>
                </a:solidFill>
                <a:latin typeface="Calibri"/>
              </a:defRPr>
            </a:pPr>
            <a:r>
              <a:t>Object at position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32"/>
                </a:solidFill>
                <a:latin typeface="Calibri"/>
              </a:defRPr>
            </a:pPr>
            <a:r>
              <a:t>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1828800"/>
            <a:ext cx="2743200" cy="1828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187451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0829E"/>
                </a:solidFill>
                <a:latin typeface="Calibri"/>
              </a:defRPr>
            </a:pPr>
            <a:r>
              <a:t>Frame N (current)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2148840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60" y="2148840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66360" y="2148840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23560" y="2148840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2148840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2532888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9160" y="2532888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66360" y="2532888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23560" y="2532888"/>
            <a:ext cx="411480" cy="338328"/>
          </a:xfrm>
          <a:prstGeom prst="rect">
            <a:avLst/>
          </a:prstGeom>
          <a:solidFill>
            <a:srgbClr val="DCB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2532888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60" y="2916936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60" y="2916936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66360" y="2916936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23560" y="2916936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80760" y="2916936"/>
            <a:ext cx="411480" cy="338328"/>
          </a:xfrm>
          <a:prstGeom prst="rect">
            <a:avLst/>
          </a:prstGeom>
          <a:solidFill>
            <a:srgbClr val="41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3337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D93D"/>
                </a:solidFill>
                <a:latin typeface="Calibri"/>
              </a:defRPr>
            </a:pPr>
            <a:r>
              <a:t>Object moved to 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DE08E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1828800"/>
            <a:ext cx="2743200" cy="1828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187451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DE08E"/>
                </a:solidFill>
                <a:latin typeface="Calibri"/>
              </a:defRPr>
            </a:pPr>
            <a:r>
              <a:t>Absolute Difference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35240" y="2148840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92440" y="2148840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49640" y="2148840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06840" y="2148840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64040" y="2148840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35240" y="2532888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92440" y="2532888"/>
            <a:ext cx="411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49640" y="2532888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06840" y="2532888"/>
            <a:ext cx="4114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64040" y="2532888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35240" y="2916936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92440" y="2916936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549640" y="2916936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06840" y="2916936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464040" y="2916936"/>
            <a:ext cx="411480" cy="338328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89520" y="3337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DE08E"/>
                </a:solidFill>
                <a:latin typeface="Calibri"/>
              </a:defRPr>
            </a:pPr>
            <a:r>
              <a:t>Motion highlighted!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192024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White =</a:t>
            </a:r>
            <a:br/>
            <a:r>
              <a:t>changed</a:t>
            </a:r>
            <a:br/>
            <a:br/>
            <a:r>
              <a:t>Black =</a:t>
            </a:r>
            <a:br/>
            <a:r>
              <a:t>static</a:t>
            </a:r>
            <a:br/>
            <a:br/>
            <a:r>
              <a:t>cv2.absdiff()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4297680"/>
            <a:ext cx="11247120" cy="23774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DE08E"/>
                </a:solidFill>
                <a:latin typeface="Calibri"/>
              </a:defRPr>
            </a:pPr>
            <a:r>
              <a:t>Processing Pipeline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7091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829E"/>
                </a:solidFill>
                <a:latin typeface="Calibri"/>
              </a:defRPr>
            </a:pPr>
            <a:r>
              <a:t>Notice: this reuses every Day 2 technique — grayscale, blur, threshold, morphology, contours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" y="5074920"/>
            <a:ext cx="1645920" cy="1371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" y="5074920"/>
            <a:ext cx="16459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88719" y="516636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19" y="5623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Read</a:t>
            </a:r>
            <a:br/>
            <a:r>
              <a:t>2 frames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19" y="5989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cap.read() two</a:t>
            </a:r>
            <a:br/>
            <a:r>
              <a:t>consecutive frames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2267712" y="5806440"/>
            <a:ext cx="22860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468880" y="5074920"/>
            <a:ext cx="1645920" cy="1371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68880" y="5074920"/>
            <a:ext cx="164592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017520" y="5166360"/>
            <a:ext cx="411480" cy="41148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60320" y="5623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32"/>
                </a:solidFill>
                <a:latin typeface="Calibri"/>
              </a:defRPr>
            </a:pPr>
            <a:r>
              <a:t>Grayscale</a:t>
            </a:r>
            <a:br/>
            <a:r>
              <a:t>+ Blur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60320" y="5989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Remove color &amp;</a:t>
            </a:r>
            <a:br/>
            <a:r>
              <a:t>smooth noise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4096512" y="5806440"/>
            <a:ext cx="22860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297680" y="5074920"/>
            <a:ext cx="1645920" cy="1371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297680" y="5074920"/>
            <a:ext cx="164592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846320" y="5166360"/>
            <a:ext cx="411480" cy="41148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120" y="5623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DE08E"/>
                </a:solidFill>
                <a:latin typeface="Calibri"/>
              </a:defRPr>
            </a:pPr>
            <a:r>
              <a:t>Absolute</a:t>
            </a:r>
            <a:br/>
            <a:r>
              <a:t>Difference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9120" y="5989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cv2.absdiff()</a:t>
            </a:r>
            <a:br/>
            <a:r>
              <a:t>subtract frames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5925312" y="5806440"/>
            <a:ext cx="22860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126480" y="5074920"/>
            <a:ext cx="1645920" cy="1371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26480" y="5074920"/>
            <a:ext cx="164592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675120" y="5166360"/>
            <a:ext cx="411480" cy="41148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17920" y="5623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06AF0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17920" y="5989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Binary mask:</a:t>
            </a:r>
            <a:br/>
            <a:r>
              <a:t>motion = white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7754112" y="5806440"/>
            <a:ext cx="22860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7955279" y="5074920"/>
            <a:ext cx="1645920" cy="1371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955279" y="5074920"/>
            <a:ext cx="164592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503919" y="5166360"/>
            <a:ext cx="411480" cy="41148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6719" y="5623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5555"/>
                </a:solidFill>
                <a:latin typeface="Calibri"/>
              </a:defRPr>
            </a:pPr>
            <a:r>
              <a:t>Dilate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46719" y="5989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Fill gaps in</a:t>
            </a:r>
            <a:br/>
            <a:r>
              <a:t>motion regions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9582911" y="5806440"/>
            <a:ext cx="22860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784080" y="5074920"/>
            <a:ext cx="1645920" cy="1371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784080" y="5074920"/>
            <a:ext cx="164592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332719" y="5166360"/>
            <a:ext cx="411480" cy="4114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75519" y="5623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93D"/>
                </a:solidFill>
                <a:latin typeface="Calibri"/>
              </a:defRPr>
            </a:pPr>
            <a:r>
              <a:t>Contours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75519" y="5989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findContours →</a:t>
            </a:r>
            <a:br/>
            <a:r>
              <a:t>boundingRect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Frame Differencing —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Fast and simple, but fragile in real-world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11880" cy="26517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" cy="26517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5555"/>
                </a:solidFill>
                <a:latin typeface="Calibri"/>
              </a:defRPr>
            </a:pPr>
            <a:r>
              <a:t>✕  Camera Shake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Problem: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Even tiny camera vibrations create</a:t>
            </a:r>
            <a:br/>
            <a:r>
              <a:t>false motion across the entire frame.</a:t>
            </a:r>
            <a:br/>
            <a:r>
              <a:t>Every pixel changes a little.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Solution: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Use a tripod, or apply</a:t>
            </a:r>
            <a:br/>
            <a:r>
              <a:t>video stabilization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280160"/>
            <a:ext cx="3611880" cy="26517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280160"/>
            <a:ext cx="54864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280160"/>
            <a:ext cx="36576" cy="26517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32"/>
                </a:solidFill>
                <a:latin typeface="Calibri"/>
              </a:defRPr>
            </a:pPr>
            <a:r>
              <a:t>✕  Lighting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737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Problem: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965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Clouds, sun movement, or flickering</a:t>
            </a:r>
            <a:br/>
            <a:r>
              <a:t>lights change pixel values globally.</a:t>
            </a:r>
            <a:br/>
            <a:r>
              <a:t>The whole frame 'moves'.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97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Solution: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Use background subtraction</a:t>
            </a:r>
            <a:br/>
            <a:r>
              <a:t>instead — it adapts over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280160"/>
            <a:ext cx="3611880" cy="26517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280160"/>
            <a:ext cx="54864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280160"/>
            <a:ext cx="36576" cy="265176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06AF0"/>
                </a:solidFill>
                <a:latin typeface="Calibri"/>
              </a:defRPr>
            </a:pPr>
            <a:r>
              <a:t>✕  Ghosting Effect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737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Problem: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965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Moving objects leave a bright 'ghost'</a:t>
            </a:r>
            <a:br/>
            <a:r>
              <a:t>at their old position AND their new</a:t>
            </a:r>
            <a:br/>
            <a:r>
              <a:t>position in the difference image.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97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Solution: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Three-frame differencing</a:t>
            </a:r>
            <a:br/>
            <a:r>
              <a:t>reduces this artifact.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06240"/>
            <a:ext cx="5394960" cy="23774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206240"/>
            <a:ext cx="54864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206240"/>
            <a:ext cx="36576" cy="2377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2976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✕  Stationary Objects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Problem: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92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Once an object stops moving, it</a:t>
            </a:r>
            <a:br/>
            <a:r>
              <a:t>produces zero difference between</a:t>
            </a:r>
            <a:br/>
            <a:r>
              <a:t>frames — becomes invisible.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235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Solution: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52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Background subtraction detects</a:t>
            </a:r>
            <a:br/>
            <a:r>
              <a:t>objects that don't match model.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206240"/>
            <a:ext cx="5394960" cy="23774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4206240"/>
            <a:ext cx="54864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4206240"/>
            <a:ext cx="36576" cy="237744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42976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E08E"/>
                </a:solidFill>
                <a:latin typeface="Calibri"/>
              </a:defRPr>
            </a:pPr>
            <a:r>
              <a:t>✕  Very Slow Motion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Problem: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892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Extremely slow movement produces</a:t>
            </a:r>
            <a:br/>
            <a:r>
              <a:t>tiny pixel changes — below the</a:t>
            </a:r>
            <a:br/>
            <a:r>
              <a:t>threshold, so not detected.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6235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Solution: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852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Lower the threshold, or</a:t>
            </a:r>
            <a:br/>
            <a:r>
              <a:t>compare every 5th frame.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537960"/>
            <a:ext cx="11247120" cy="22860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DE08E"/>
                </a:solidFill>
                <a:latin typeface="Calibri"/>
              </a:defRPr>
            </a:pPr>
            <a:r>
              <a:t>All these problems are solved by Background Subtraction → next topic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Background Subtraction — Smart Motion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Learns what the background looks like, then detects anything that doesn't 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2926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DE08E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Frame differencing compares frame N to frame N-1.</a:t>
            </a:r>
            <a:br/>
            <a:r>
              <a:t>It only sees instant-to-instant change.</a:t>
            </a:r>
            <a:br/>
            <a:br/>
            <a:r>
              <a:t>Background subtraction builds a statistical model of</a:t>
            </a:r>
            <a:br/>
            <a:r>
              <a:t>what the scene normally looks like over many frames.</a:t>
            </a:r>
            <a:br/>
            <a:br/>
            <a:r>
              <a:t>Analogy: Watching a parking lot for an hour, you learn</a:t>
            </a:r>
            <a:br/>
            <a:r>
              <a:t>what 'empty' looks like. When a car appears, you know</a:t>
            </a:r>
            <a:br/>
            <a:r>
              <a:t>it's new because it doesn't match your mental model.</a:t>
            </a:r>
            <a:br/>
            <a:br/>
            <a:r>
              <a:t>The model adapts: a parked car eventually becomes</a:t>
            </a:r>
            <a:br/>
            <a:r>
              <a:t>part of the background. A new arrival is immediately</a:t>
            </a:r>
            <a:br/>
            <a:r>
              <a:t>detected as foreground.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2926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How It Works — Four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783080"/>
            <a:ext cx="4754880" cy="530352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783080"/>
            <a:ext cx="36576" cy="5303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81051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1. 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8105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Build background model from the</a:t>
            </a:r>
            <a:br/>
            <a:r>
              <a:t>first N frames of the video.</a:t>
            </a:r>
            <a:br/>
            <a:r>
              <a:t>Each pixel gets a probability distribution.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377440"/>
            <a:ext cx="4754880" cy="530352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2377440"/>
            <a:ext cx="36576" cy="53035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40487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32"/>
                </a:solidFill>
                <a:latin typeface="Calibri"/>
              </a:defRPr>
            </a:pPr>
            <a:r>
              <a:t>2. 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4048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For each new frame, compare</a:t>
            </a:r>
            <a:br/>
            <a:r>
              <a:t>every pixel against its learned</a:t>
            </a:r>
            <a:br/>
            <a:r>
              <a:t>background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971800"/>
            <a:ext cx="4754880" cy="530352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2971800"/>
            <a:ext cx="36576" cy="53035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9992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E08E"/>
                </a:solidFill>
                <a:latin typeface="Calibri"/>
              </a:defRPr>
            </a:pPr>
            <a:r>
              <a:t>3. 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9992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Mark pixels as foreground (doesn't</a:t>
            </a:r>
            <a:br/>
            <a:r>
              <a:t>match model) or background</a:t>
            </a:r>
            <a:br/>
            <a:r>
              <a:t>(matches model).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566160"/>
            <a:ext cx="4754880" cy="530352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3566160"/>
            <a:ext cx="36576" cy="53035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5935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6AF0"/>
                </a:solidFill>
                <a:latin typeface="Calibri"/>
              </a:defRPr>
            </a:pPr>
            <a:r>
              <a:t>4.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59359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Gradually update the model so</a:t>
            </a:r>
            <a:br/>
            <a:r>
              <a:t>it adapts to slow changes like</a:t>
            </a:r>
            <a:br/>
            <a:r>
              <a:t>sunrise/sunset or new objects.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434840"/>
            <a:ext cx="1124712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Frame Differencing vs Background Subtraction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920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74920"/>
            <a:ext cx="3383280" cy="4572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48920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Frame Differencing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074920"/>
            <a:ext cx="3383280" cy="4572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48920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Background Subtraction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5074920"/>
            <a:ext cx="3383280" cy="4572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206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Compares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1206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Current vs previous frame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1206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Current vs learned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37667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Lighting changes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37667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Fails — whole frame changes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37667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Handles well — model adapts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63270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Stopped objects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63270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Invisible immediately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63270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Detected until absorbed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88873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Camera noise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88873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Very sensitive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588873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Filtered by model statistics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1447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Shadows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61447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Detected as motion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61447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Can detect and remove shadows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4008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Complexity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64008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Very simple (cv2.absdiff)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64008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More parameters to tune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MOG2 — Gaussian Mixture Background Subtractor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The most widely used background subtraction algorithm in OpenCV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25603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How MOG2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Each pixel is modeled as a mixture of K Gaussian distributions</a:t>
            </a:r>
            <a:br/>
            <a:r>
              <a:t>(typically K = 3 to 5). Each Gaussian has a weight representing</a:t>
            </a:r>
            <a:br/>
            <a:r>
              <a:t>how often that color appears at that pixel.</a:t>
            </a:r>
            <a:br/>
            <a:br/>
            <a:r>
              <a:t>Most persistent colors = background. Rare colors = foreground.</a:t>
            </a:r>
            <a:br/>
            <a:br/>
            <a:r>
              <a:t>When a new pixel value arrives, MOG2 checks which Gaussian it</a:t>
            </a:r>
            <a:br/>
            <a:r>
              <a:t>matches. If it doesn't match any → foreground (new object).</a:t>
            </a:r>
            <a:br/>
            <a:r>
              <a:t>If it matches a background Gaussian → background (normal).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25603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Parameters &amp;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783080"/>
            <a:ext cx="4754880" cy="685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783080"/>
            <a:ext cx="47548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856231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history = 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075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Number of recent frames to learn from.</a:t>
            </a:r>
            <a:br/>
            <a:r>
              <a:t>Higher = slower adaptation, more stable.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560320"/>
            <a:ext cx="4754880" cy="685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2560320"/>
            <a:ext cx="475488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6334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32"/>
                </a:solidFill>
                <a:latin typeface="Calibri"/>
              </a:defRPr>
            </a:pPr>
            <a:r>
              <a:t>varThreshold = 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8529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Sensitivity threshold. Higher = less</a:t>
            </a:r>
            <a:br/>
            <a:r>
              <a:t>sensitive, fewer false positives.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337560"/>
            <a:ext cx="4754880" cy="685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337560"/>
            <a:ext cx="475488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4107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E08E"/>
                </a:solidFill>
                <a:latin typeface="Calibri"/>
              </a:defRPr>
            </a:pPr>
            <a:r>
              <a:t>detectShadows =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630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If True, shadows appear as gray (127)</a:t>
            </a:r>
            <a:br/>
            <a:r>
              <a:t>in the mask. Threshold at 250 to remove.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11247120" cy="25603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E08E"/>
                </a:solidFill>
                <a:latin typeface="Calibri"/>
              </a:defRPr>
            </a:pPr>
            <a:r>
              <a:t>Complete MOG2 Pipeline —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cap = cv2.VideoCapture('airport.mp4')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bg_sub = cv2.createBackgroundSubtractorMOG2(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history=500, varThreshold=50,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detectShadows=True)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kernel = cv2.getStructuringElement(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cv2.MORPH_ELLIPSE, (5,5))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while True: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ret, frame = cap.read()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if not ret: break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262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# Apply background subtraction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    fg_mask = bg_sub.apply(frame)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_, fg_mask = cv2.threshold(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    fg_mask, 250, 255, THRESH_BINARY)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# Clean up (Day 2 morphology!)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B06AF0"/>
                </a:solidFill>
                <a:latin typeface="Calibri"/>
              </a:defRPr>
            </a:pPr>
            <a:r>
              <a:t>    fg_mask = cv2.morphologyEx(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B06AF0"/>
                </a:solidFill>
                <a:latin typeface="Calibri"/>
              </a:defRPr>
            </a:pPr>
            <a:r>
              <a:t>        fg_mask, MORPH_OPEN, kernel)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B06AF0"/>
                </a:solidFill>
                <a:latin typeface="Calibri"/>
              </a:defRPr>
            </a:pPr>
            <a:r>
              <a:t>    fg_mask = cv2.morphologyEx(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B06AF0"/>
                </a:solidFill>
                <a:latin typeface="Calibri"/>
              </a:defRPr>
            </a:pPr>
            <a:r>
              <a:t>        fg_mask, MORPH_CLOSE, kernel)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# Find objects (Day 2 contours!)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D93D"/>
                </a:solidFill>
                <a:latin typeface="Calibri"/>
              </a:defRPr>
            </a:pPr>
            <a:r>
              <a:t>    cnts, _ = cv2.findContours(...)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3c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KNN Background Subtractor &amp; Tuning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Alternative algorithm + practical troubleshooting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21031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66928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KNN — K-Nearest Neighbors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Instead of Gaussian mixtures, KNN keeps a history of recent pixel</a:t>
            </a:r>
            <a:br/>
            <a:r>
              <a:t>values and classifies new pixels by comparing to the K nearest</a:t>
            </a:r>
            <a:br/>
            <a:r>
              <a:t>stored values. Better for complex dynamic backgrounds.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5120640" cy="5486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bg_sub = cv2.createBackgroundSubtractorKNN(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history=500, dist2Threshold=400.0, detectShadows=True)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Usage is identical: fg_mask = bg_sub.apply(frame)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5303520" cy="21031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417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MOG2 vs KNN — Quick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828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Slightly slower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94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Simple backgrounds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60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Dynamic backgrounds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Better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926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When to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Default choice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Trees, water, flickering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57600"/>
            <a:ext cx="11247120" cy="30175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5555"/>
                </a:solidFill>
                <a:latin typeface="Calibri"/>
              </a:defRPr>
            </a:pPr>
            <a:r>
              <a:t>Troubleshooting Guide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114800"/>
            <a:ext cx="5394960" cy="12344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114800"/>
            <a:ext cx="36576" cy="123444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1879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5555"/>
                </a:solidFill>
                <a:latin typeface="Calibri"/>
              </a:defRPr>
            </a:pPr>
            <a:r>
              <a:t>Problem: Too many false positives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480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• Increase varThreshold</a:t>
            </a:r>
            <a:br/>
            <a:r>
              <a:t>• Morphological opening</a:t>
            </a:r>
            <a:br/>
            <a:r>
              <a:t>• Filter contours by area &gt; 1000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114800"/>
            <a:ext cx="5394960" cy="12344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114800"/>
            <a:ext cx="36576" cy="123444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1879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2"/>
                </a:solidFill>
                <a:latin typeface="Calibri"/>
              </a:defRPr>
            </a:pPr>
            <a:r>
              <a:t>Problem: Objects disappear fast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480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• Increase history to 1000+</a:t>
            </a:r>
            <a:br/>
            <a:r>
              <a:t>• Set learning rate: apply(frame, lr=0.001)</a:t>
            </a:r>
            <a:br/>
            <a:r>
              <a:t>• Apply subtractor every N frames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32120"/>
            <a:ext cx="5394960" cy="12344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532120"/>
            <a:ext cx="36576" cy="123444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56052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6AF0"/>
                </a:solidFill>
                <a:latin typeface="Calibri"/>
              </a:defRPr>
            </a:pPr>
            <a:r>
              <a:t>Problem: Shadows as objects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5897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• Enable detectShadows=True</a:t>
            </a:r>
            <a:br/>
            <a:r>
              <a:t>• Threshold mask at 250</a:t>
            </a:r>
            <a:br/>
            <a:r>
              <a:t>• Morphological opening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532120"/>
            <a:ext cx="5394960" cy="12344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5532120"/>
            <a:ext cx="36576" cy="1234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6052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Problem: Slow motion missed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897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• Decrease varThreshold (50 → 25)</a:t>
            </a:r>
            <a:br/>
            <a:r>
              <a:t>• Compare every 5th frame</a:t>
            </a:r>
            <a:br/>
            <a:r>
              <a:t>• Apply larger blur 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Optical Flow — Direction &amp; Speed of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A 2D vector field showing how every pixel moves between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25603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06AF0"/>
                </a:solidFill>
                <a:latin typeface="Calibri"/>
              </a:defRPr>
            </a:pPr>
            <a:r>
              <a:t>What is Optical Flow?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Optical flow computes the motion of pixels between frames as</a:t>
            </a:r>
            <a:br/>
            <a:r>
              <a:t>a 2D vector field. At each pixel, you get a vector (dx, dy)</a:t>
            </a:r>
            <a:br/>
            <a:r>
              <a:t>describing how far and in which direction it moved.</a:t>
            </a:r>
            <a:br/>
            <a:br/>
            <a:r>
              <a:t>Frame differencing → WHERE is motion</a:t>
            </a:r>
            <a:br/>
            <a:r>
              <a:t>Background subtraction → WHAT is moving</a:t>
            </a:r>
            <a:br/>
            <a:r>
              <a:t>Optical flow → HOW things move (direction + speed)</a:t>
            </a:r>
            <a:br/>
            <a:br/>
            <a:r>
              <a:t>Applications: video stabilization, autonomous driving,</a:t>
            </a:r>
            <a:br/>
            <a:r>
              <a:t>action recognition, activity detection on the tarmac.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25603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Two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783080"/>
            <a:ext cx="4754880" cy="9144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783080"/>
            <a:ext cx="47548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Sparse — Lucas-Kanade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48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Tracks selected keypoints only. Very fast (~100+ FPS).</a:t>
            </a:r>
            <a:br/>
            <a:r>
              <a:t>Best for tracking specific objects or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834640"/>
            <a:ext cx="4754880" cy="9144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2834640"/>
            <a:ext cx="475488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9260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Dense — Farneback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00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Computes flow for every single pixel. Slower (~10-30 FPS).</a:t>
            </a:r>
            <a:br/>
            <a:r>
              <a:t>Complete motion picture of the entire scene.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5669280" cy="25603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Sparse Flow — Point Tracking Visual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Step 1: Detect features (Shi-Tomasi corners from Day 2)</a:t>
            </a:r>
            <a:br/>
            <a:r>
              <a:t>Step 2: Track each point to the next frame with Lucas-Kanade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5120640" cy="14630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521208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1170432" y="5239512"/>
            <a:ext cx="365760" cy="237744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37360" y="557784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1810512" y="5605272"/>
            <a:ext cx="274320" cy="237744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68880" y="530352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2542032" y="5330952"/>
            <a:ext cx="320040" cy="237744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08960" y="566928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3182112" y="5696712"/>
            <a:ext cx="228600" cy="237744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0" y="539496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3913632" y="5422392"/>
            <a:ext cx="411480" cy="237744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2000" y="557784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4645152" y="5605272"/>
            <a:ext cx="274320" cy="237744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61722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Each dot = tracked keypoint, arrow = motion vector (direction + magnitude)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114800"/>
            <a:ext cx="5303520" cy="25603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206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Dense Flow — Color Visualization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Every pixel gets a flow vector. Visualized using HSV:</a:t>
            </a:r>
            <a:br/>
            <a:r>
              <a:t>Hue = direction, Brightness = speed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4937760"/>
            <a:ext cx="4754880" cy="9144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0" y="5074920"/>
            <a:ext cx="548640" cy="3200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51023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35240" y="5074920"/>
            <a:ext cx="548640" cy="320040"/>
          </a:xfrm>
          <a:prstGeom prst="rect">
            <a:avLst/>
          </a:prstGeom>
          <a:solidFill>
            <a:srgbClr val="C8C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51023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5074920"/>
            <a:ext cx="548640" cy="320040"/>
          </a:xfrm>
          <a:prstGeom prst="rect">
            <a:avLst/>
          </a:prstGeom>
          <a:solidFill>
            <a:srgbClr val="1EC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51023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5074920"/>
            <a:ext cx="548640" cy="320040"/>
          </a:xfrm>
          <a:prstGeom prst="rect">
            <a:avLst/>
          </a:prstGeom>
          <a:solidFill>
            <a:srgbClr val="1E1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51023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66960" y="5074920"/>
            <a:ext cx="548640" cy="320040"/>
          </a:xfrm>
          <a:prstGeom prst="rect">
            <a:avLst/>
          </a:prstGeom>
          <a:solidFill>
            <a:srgbClr val="C81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2680" y="51023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44200" y="5074920"/>
            <a:ext cx="548640" cy="32004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89920" y="51023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44068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Each color = a direction of motion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806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Black = no motion  |  Brighter = faster movement</a:t>
            </a:r>
            <a:br/>
            <a:r>
              <a:t>This creates a motion 'heatmap' of the entire scene.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Optical Flow — Sparse Code (Lucas-Kanade)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Track selected feature points from frame to 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5303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Finding &amp; Tracking Feature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Detect initial keypoints (Shi-Tomasi)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feature_params = dict(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maxCorners=200,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qualityLevel=0.3,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minDistance=7, blockSize=7)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0D4FF"/>
                </a:solidFill>
                <a:latin typeface="Calibri"/>
              </a:defRPr>
            </a:pPr>
            <a:r>
              <a:t>p0 = cv2.goodFeaturesToTrack(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0D4FF"/>
                </a:solidFill>
                <a:latin typeface="Calibri"/>
              </a:defRPr>
            </a:pPr>
            <a:r>
              <a:t>    old_gray, mask=None, **feature_params)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Lucas-Kanade parameters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lk_params = dict(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winSize=(15, 15),   # search window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maxLevel=2,         # pyramid levels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criteria=(TERM_CRITERIA_EPS |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         TERM_CRITERIA_COUNT, 10, 0.03))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5303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Tracking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Track points from old frame to new frame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p1, status, error = cv2.calcOpticalFlowPyrLK(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old_gray, frame_gray, p0, None,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**lk_params)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status=1: tracked OK, status=0: lost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good_new = p1[status == 1]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good_old = p0[status == 1]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Draw motion vectors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for new, old in zip(good_new, good_old):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a, b = new.ravel().astype(int)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c, d = old.ravel().astype(int)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    cv2.line(mask, (a,b), (c,d), color, 2)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    cv2.circle(frame, (a,b), 4, color, -1)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Update for next iteration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old_gray = frame_gray.copy()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p0 = good_new.reshape(-1, 1, 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4c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Optical Flow — Dense Code &amp;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Farneback method computes flow for every pixel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34747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Dense Optical Flow (Farneback)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FF8C32"/>
                </a:solidFill>
                <a:latin typeface="Calibri"/>
              </a:defRPr>
            </a:pPr>
            <a:r>
              <a:t>flow = cv2.calcOpticalFlowFarneback(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old_gray, frame_gray, None,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pyr_scale=0.5,  # pyramid downscale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levels=3,       # pyramid levels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winsize=15,     # averaging window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iterations=3,   # per pyramid level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poly_n=5,       # neighborhood size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poly_sigma=1.2, # gaussian sigma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flags=0)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# flow.shape = (H, W, 2) → dx, dy per pixel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Visualize: convert to polar coordinates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mag, ang = cv2.cartToPolar(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flow[...,0], flow[...,1])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hsv[...,0] = ang * 180 / np.pi / 2  # hue=dir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hsv[...,2] = cv2.normalize(mag, None,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0, 255, NORM_MINMAX)  # brightness=speed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vis = cv2.cvtColor(hsv, COLOR_HSV2BGR)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303520" cy="34747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Sparse vs Dense — Decision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57031" y="17830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Sparse (LK)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38944" y="17830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Dense (Farneback)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0116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~100+ FPS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38944" y="20116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~10-30 FPS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317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3317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Selected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38944" y="23317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Every pixel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517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6517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Tracking objects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8944" y="26517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Motion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9718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Large motion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29718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Yes (pyramids)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8944" y="29718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Yes (pyramids)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291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Noise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3291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Lower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4" y="3291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Higher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6118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36118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Point positions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8944" y="36118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Flow vector field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9319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Our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39319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Track aircraft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38944" y="39319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Activity heatmap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029200"/>
            <a:ext cx="5669280" cy="16459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1206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C4B2"/>
                </a:solidFill>
                <a:latin typeface="Calibri"/>
              </a:defRPr>
            </a:pPr>
            <a:r>
              <a:t>Motion Statistics — Quantifying Activity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949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mag, ang = cv2.cartToPolar(flow[...,0], flow[...,1])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00D4FF"/>
                </a:solidFill>
                <a:latin typeface="Calibri"/>
              </a:defRPr>
            </a:pPr>
            <a:r>
              <a:t>avg_motion = np.mean(mag)        # overall activity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FF8C32"/>
                </a:solidFill>
                <a:latin typeface="Calibri"/>
              </a:defRPr>
            </a:pPr>
            <a:r>
              <a:t>max_motion = np.max(mag)         # fastest pixel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3DE08E"/>
                </a:solidFill>
                <a:latin typeface="Calibri"/>
              </a:defRPr>
            </a:pPr>
            <a:r>
              <a:t>motion_pct = np.sum(mag &gt; 2.0)   # pixels moving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3DE08E"/>
                </a:solidFill>
                <a:latin typeface="Calibri"/>
              </a:defRPr>
            </a:pPr>
            <a:r>
              <a:t>motion_pct = motion_pct / mag.size * 100  # as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029200"/>
            <a:ext cx="5303520" cy="16459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1206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5555"/>
                </a:solidFill>
                <a:latin typeface="Calibri"/>
              </a:defRPr>
            </a:pPr>
            <a:r>
              <a:t>Motion Timeline — Activity Over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394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Plot motion levels to identify turnaround phases: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6309360"/>
            <a:ext cx="502920" cy="91440"/>
          </a:xfrm>
          <a:prstGeom prst="rect">
            <a:avLst/>
          </a:prstGeom>
          <a:solidFill>
            <a:srgbClr val="708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0829E"/>
                </a:solidFill>
                <a:latin typeface="Calibri"/>
              </a:defRPr>
            </a:pPr>
            <a:r>
              <a:t>Parked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6368" y="6080760"/>
            <a:ext cx="5029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0648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D4FF"/>
                </a:solidFill>
                <a:latin typeface="Calibri"/>
              </a:defRPr>
            </a:pPr>
            <a:r>
              <a:t>Vehicles</a:t>
            </a:r>
            <a:br/>
            <a:r>
              <a:t>approach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74736" y="5623560"/>
            <a:ext cx="502920" cy="77724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29015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DE08E"/>
                </a:solidFill>
                <a:latin typeface="Calibri"/>
              </a:defRPr>
            </a:pPr>
            <a:r>
              <a:t>Active</a:t>
            </a:r>
            <a:br/>
            <a:r>
              <a:t>servicing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33104" y="5532120"/>
            <a:ext cx="502920" cy="86868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87384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93D"/>
                </a:solidFill>
                <a:latin typeface="Calibri"/>
              </a:defRPr>
            </a:pPr>
            <a:r>
              <a:t>Peak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91472" y="6035040"/>
            <a:ext cx="502920" cy="3657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5751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8C32"/>
                </a:solidFill>
                <a:latin typeface="Calibri"/>
              </a:defRPr>
            </a:pPr>
            <a:r>
              <a:t>Vehicles</a:t>
            </a:r>
            <a:br/>
            <a:r>
              <a:t>depart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49840" y="5577840"/>
            <a:ext cx="502920" cy="8229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04119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05555"/>
                </a:solidFill>
                <a:latin typeface="Calibri"/>
              </a:defRPr>
            </a:pPr>
            <a:r>
              <a:t>Push</a:t>
            </a:r>
            <a:br/>
            <a:r>
              <a:t>back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808208" y="6327648"/>
            <a:ext cx="502920" cy="73152"/>
          </a:xfrm>
          <a:prstGeom prst="rect">
            <a:avLst/>
          </a:prstGeom>
          <a:solidFill>
            <a:srgbClr val="708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62488" y="64465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0829E"/>
                </a:solidFill>
                <a:latin typeface="Calibri"/>
              </a:defRPr>
            </a:pPr>
            <a:r>
              <a:t>Gone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Object Tracking — Following Specific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Maintaining object identity across frames — 'this is still the same fuel truck'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247120" cy="20116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555"/>
                </a:solidFill>
                <a:latin typeface="Calibri"/>
              </a:defRPr>
            </a:pPr>
            <a:r>
              <a:t>Detection vs Tracking — What's the Difference?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Aspect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3383280" cy="4572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3383280" cy="4572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7373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920240"/>
            <a:ext cx="3383280" cy="4572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659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659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Finds ALL objects each 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9659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Follows ONE specific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221991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21991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No identity — 'object here'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221991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Persistent — 'this is object #3'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4780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4780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Slower (analyzes full frame)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47802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Faster (searches near last pos)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7340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Occlusion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7340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Can re-detect afterwards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734056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May lose track when hidden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990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Input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990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None (automatic)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9900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Initial bounding box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66160"/>
            <a:ext cx="5029200" cy="310896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657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OpenCV Tracking API — 3 Simple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977639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Step 1: Create tracker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tracker = cv2.TrackerCSRT_create()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Step 2: Select object &amp; initialize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bbox = cv2.selectROI('Select', frame)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tracker.init(frame, bbox)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Step 3: Update each frame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while True: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ret, frame = cap.read()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    success, bbox = tracker.update(frame)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if success: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    x,y,w,h = [int(v) for v in bbox]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        cv2.rectangle(frame, (x,y),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                      (x+w,y+h), (0,255,0), 2)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3566160"/>
            <a:ext cx="5943600" cy="31089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6576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5555"/>
                </a:solidFill>
                <a:latin typeface="Calibri"/>
              </a:defRPr>
            </a:pPr>
            <a:r>
              <a:t>Handling Tracker Failure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977639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Trackers can lose their target — the object goes behind something,</a:t>
            </a:r>
            <a:br/>
            <a:r>
              <a:t>moves too fast, or changes appearance. A robust system needs</a:t>
            </a:r>
            <a:br/>
            <a:r>
              <a:t>failure recovery: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00600"/>
            <a:ext cx="5212080" cy="16459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8463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consecutive_failures = 0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05555"/>
                </a:solidFill>
                <a:latin typeface="Calibri"/>
              </a:defRPr>
            </a:pPr>
            <a:r>
              <a:t>if not success: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    consecutive_failures += 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05555"/>
                </a:solidFill>
                <a:latin typeface="Calibri"/>
              </a:defRPr>
            </a:pPr>
            <a:r>
              <a:t>    if consecutive_failures &gt;= 30: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        # Re-initialize tracker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        bbox = cv2.selectROI(frame)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        tracker = TrackerCSRT_create()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        tracker.init(frame, bbox)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else: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    consecutive_failures =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Tracker Comparison — Choosing the Right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Four algorithms with different speed/accuracy tradeoffs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274320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274320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05555"/>
                </a:solidFill>
                <a:latin typeface="Calibri"/>
              </a:defRPr>
            </a:pPr>
            <a:r>
              <a:t>CSRT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373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Most Accurate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Discriminative Correlation Filter with</a:t>
            </a:r>
            <a:br/>
            <a:r>
              <a:t>spatial reliability maps. Uses HOG</a:t>
            </a:r>
            <a:br/>
            <a:r>
              <a:t>features. Best accuracy of all</a:t>
            </a:r>
            <a:br/>
            <a:r>
              <a:t>classical OpenCV trackers.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79" y="3291840"/>
            <a:ext cx="2468880" cy="3200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5555"/>
                </a:solidFill>
                <a:latin typeface="Calibri"/>
              </a:defRPr>
            </a:pPr>
            <a:r>
              <a:t>Speed: ~25 FPS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749039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977639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4032503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34440" y="4032503"/>
            <a:ext cx="388620" cy="1371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68780" y="39776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5555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34340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4398264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34440" y="4398264"/>
            <a:ext cx="1476756" cy="1371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56915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5555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709159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Occlusion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4764023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34440" y="4764023"/>
            <a:ext cx="932688" cy="1371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2848" y="470915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5555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074920"/>
            <a:ext cx="2560320" cy="3200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5555"/>
                </a:solidFill>
                <a:latin typeface="Calibri"/>
              </a:defRPr>
            </a:pPr>
            <a:r>
              <a:t>cv2.TrackerCSRT_create()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486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When accuracy matters most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1280160"/>
            <a:ext cx="274320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1280160"/>
            <a:ext cx="27432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79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32"/>
                </a:solidFill>
                <a:latin typeface="Calibri"/>
              </a:defRPr>
            </a:pPr>
            <a:r>
              <a:t>KCF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79" y="17373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Balanced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79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Kernelized Correlation Filters.</a:t>
            </a:r>
            <a:br/>
            <a:r>
              <a:t>Exploits cyclic structure for efficient</a:t>
            </a:r>
            <a:br/>
            <a:r>
              <a:t>computation. Good balance of</a:t>
            </a:r>
            <a:br/>
            <a:r>
              <a:t>speed and tracking quality.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79" y="3291840"/>
            <a:ext cx="2468880" cy="3200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0" y="3337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32"/>
                </a:solidFill>
                <a:latin typeface="Calibri"/>
              </a:defRPr>
            </a:pPr>
            <a:r>
              <a:t>Speed: ~80 FPS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3749039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79" y="3977639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032503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4032503"/>
            <a:ext cx="1088136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0095" y="39776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32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79" y="434340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4398264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4398264"/>
            <a:ext cx="1088136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0095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32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79" y="4709159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Occlusion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764023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4764023"/>
            <a:ext cx="621792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73751" y="470915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8C32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37560" y="5074920"/>
            <a:ext cx="2560320" cy="3200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2900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8C32"/>
                </a:solidFill>
                <a:latin typeface="Calibri"/>
              </a:defRPr>
            </a:pPr>
            <a:r>
              <a:t>cv2.TrackerKCF_create()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79" y="5486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Real-time + decent quality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1280160"/>
            <a:ext cx="274320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128016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MOSSE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17373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Fastest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Minimum Output Sum of Squared</a:t>
            </a:r>
            <a:br/>
            <a:r>
              <a:t>Error. Stable correlation filter from</a:t>
            </a:r>
            <a:br/>
            <a:r>
              <a:t>a single frame. Extremely fast</a:t>
            </a:r>
            <a:br/>
            <a:r>
              <a:t>but less accurate.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55080" y="3291840"/>
            <a:ext cx="2468880" cy="3200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3337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Calibri"/>
              </a:defRPr>
            </a:pPr>
            <a:r>
              <a:t>Speed: ~450 FPS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3749039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3977639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78040" y="4032503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78040" y="4032503"/>
            <a:ext cx="1476756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00516" y="39776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FF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434340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8040" y="4398264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8040" y="4398264"/>
            <a:ext cx="621792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45552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FF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55080" y="4709159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Occlusion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78040" y="4764023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178040" y="4764023"/>
            <a:ext cx="310896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34656" y="470915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09359" y="5074920"/>
            <a:ext cx="2560320" cy="3200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D4FF"/>
                </a:solidFill>
                <a:latin typeface="Calibri"/>
              </a:defRPr>
            </a:pPr>
            <a:r>
              <a:t>cv2.legacy.TrackerMOSSE_create()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55080" y="5486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Ultra-fast, simple objects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89720" y="1280160"/>
            <a:ext cx="274320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89720" y="1280160"/>
            <a:ext cx="27432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268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DE08E"/>
                </a:solidFill>
                <a:latin typeface="Calibri"/>
              </a:defRPr>
            </a:pPr>
            <a:r>
              <a:t>MIL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26880" y="17373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Adaptive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0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Multiple Instance Learning.</a:t>
            </a:r>
            <a:br/>
            <a:r>
              <a:t>Handles partial occlusion and</a:t>
            </a:r>
            <a:br/>
            <a:r>
              <a:t>object appearance changes.</a:t>
            </a:r>
            <a:br/>
            <a:r>
              <a:t>Medium speed and accuracy.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326880" y="3291840"/>
            <a:ext cx="2468880" cy="3200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418320" y="3337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DE08E"/>
                </a:solidFill>
                <a:latin typeface="Calibri"/>
              </a:defRPr>
            </a:pPr>
            <a:r>
              <a:t>Speed: ~40 FPS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3749039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3977639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9840" y="4032503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149840" y="4032503"/>
            <a:ext cx="777240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972800" y="39776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E08E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26880" y="434340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9840" y="4398264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149840" y="4398264"/>
            <a:ext cx="1010412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05972" y="4343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E08E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26880" y="4709159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Occlusion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149840" y="4764023"/>
            <a:ext cx="155448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149840" y="4764023"/>
            <a:ext cx="854964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050524" y="470915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DE08E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281160" y="5074920"/>
            <a:ext cx="2560320" cy="3200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37260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DE08E"/>
                </a:solidFill>
                <a:latin typeface="Calibri"/>
              </a:defRPr>
            </a:pPr>
            <a:r>
              <a:t>cv2.TrackerMIL_create()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26880" y="5486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Changing appearances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7200" y="6537960"/>
            <a:ext cx="11247120" cy="22860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93D"/>
                </a:solidFill>
                <a:latin typeface="Calibri"/>
              </a:defRPr>
            </a:pPr>
            <a:r>
              <a:t>Recommendation for airplane project: CSRT (accuracy) or KCF (if speed is needed)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Multi-Object Tracking — SORT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Automatically detect and track many objects with persistent 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029200" cy="18288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Why Multi-Object Tracking?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In the turnaround project, we track many</a:t>
            </a:r>
            <a:br/>
            <a:r>
              <a:t>objects simultaneously: airplane, fuel truck,</a:t>
            </a:r>
            <a:br/>
            <a:r>
              <a:t>baggage carts, catering, jet bridge, crew.</a:t>
            </a:r>
            <a:br/>
            <a:br/>
            <a:r>
              <a:t>Single trackers follow one target. MOT</a:t>
            </a:r>
            <a:br/>
            <a:r>
              <a:t>handles all targets with unique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280160"/>
            <a:ext cx="5943600" cy="18288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71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What is SORT?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73736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Simple Online and Realtime Tracking.</a:t>
            </a:r>
            <a:br/>
            <a:r>
              <a:t>Combines object detection with tracking</a:t>
            </a:r>
            <a:br/>
            <a:r>
              <a:t>automatically — no manual ROI selection.</a:t>
            </a:r>
            <a:br/>
            <a:br/>
            <a:r>
              <a:t>Uses a detector (YOLO) to find objects,</a:t>
            </a:r>
            <a:br/>
            <a:r>
              <a:t>then links detections across frames.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32918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DE08E"/>
                </a:solidFill>
                <a:latin typeface="Calibri"/>
              </a:defRPr>
            </a:pPr>
            <a:r>
              <a:t>SORT Pipeline — Four Steps Per Frame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2560320" cy="265176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2560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08760" y="3977639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526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4800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Run object detector</a:t>
            </a:r>
            <a:br/>
            <a:r>
              <a:t>(e.g., YOLO) on the</a:t>
            </a:r>
            <a:br/>
            <a:r>
              <a:t>current frame. Get</a:t>
            </a:r>
            <a:br/>
            <a:r>
              <a:t>bounding boxes for</a:t>
            </a:r>
            <a:br/>
            <a:r>
              <a:t>all visible objects.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19" y="5897880"/>
            <a:ext cx="2377440" cy="45720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5943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Input: raw frame</a:t>
            </a:r>
            <a:br/>
            <a:r>
              <a:t>Output: list of bboxes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82111" y="4937760"/>
            <a:ext cx="27432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29000" y="3840480"/>
            <a:ext cx="2560320" cy="265176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29000" y="3840480"/>
            <a:ext cx="256032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97680" y="3977639"/>
            <a:ext cx="502920" cy="50292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526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32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800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Use Kalman filter to</a:t>
            </a:r>
            <a:br/>
            <a:r>
              <a:t>predict where each</a:t>
            </a:r>
            <a:br/>
            <a:r>
              <a:t>existing track should</a:t>
            </a:r>
            <a:br/>
            <a:r>
              <a:t>be in this frame</a:t>
            </a:r>
            <a:br/>
            <a:r>
              <a:t>based on velocity.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5897880"/>
            <a:ext cx="2377440" cy="45720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5943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Input: previous tracks</a:t>
            </a:r>
            <a:br/>
            <a:r>
              <a:t>Output: predicted positions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71031" y="4937760"/>
            <a:ext cx="27432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3840480"/>
            <a:ext cx="2560320" cy="265176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840480"/>
            <a:ext cx="256032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86600" y="3977639"/>
            <a:ext cx="502920" cy="50292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526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E08E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4800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Hungarian algorithm</a:t>
            </a:r>
            <a:br/>
            <a:r>
              <a:t>finds optimal 1-to-1</a:t>
            </a:r>
            <a:br/>
            <a:r>
              <a:t>assignment between</a:t>
            </a:r>
            <a:br/>
            <a:r>
              <a:t>predictions and new</a:t>
            </a:r>
            <a:br/>
            <a:r>
              <a:t>detections (min cost).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5897880"/>
            <a:ext cx="2377440" cy="45720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943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Input: predictions + detections</a:t>
            </a:r>
            <a:br/>
            <a:r>
              <a:t>Output: matched pairs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759952" y="4937760"/>
            <a:ext cx="274320" cy="237744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06839" y="3840480"/>
            <a:ext cx="2560320" cy="265176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06839" y="3840480"/>
            <a:ext cx="256032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875519" y="3977639"/>
            <a:ext cx="502920" cy="50292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79" y="4526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6AF0"/>
                </a:solidFill>
                <a:latin typeface="Calibri"/>
              </a:defRPr>
            </a:pPr>
            <a:r>
              <a:t>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79" y="4800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Update matched tracks.</a:t>
            </a:r>
            <a:br/>
            <a:r>
              <a:t>Create new tracks for</a:t>
            </a:r>
            <a:br/>
            <a:r>
              <a:t>unmatched detections.</a:t>
            </a:r>
            <a:br/>
            <a:r>
              <a:t>Delete tracks that lost</a:t>
            </a:r>
            <a:br/>
            <a:r>
              <a:t>their match for N frames.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79" y="5897880"/>
            <a:ext cx="2377440" cy="45720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19" y="5943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Input: matched pairs</a:t>
            </a:r>
            <a:br/>
            <a:r>
              <a:t>Output: updated track 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6b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DeepSORT — Smarter Multi-Object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Adding deep learning appearance features to prevent identity switches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69280" cy="25603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The Problem with 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SORT only uses position and size for matching. When two objects</a:t>
            </a:r>
            <a:br/>
            <a:r>
              <a:t>cross paths or get close, SORT can swap their IDs — tracking</a:t>
            </a:r>
            <a:br/>
            <a:r>
              <a:t>the fuel truck as the baggage cart and vice versa.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06AF0"/>
                </a:solidFill>
                <a:latin typeface="Calibri"/>
              </a:defRPr>
            </a:pPr>
            <a:r>
              <a:t>DeepSORT's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Add a CNN that extracts a visual 'fingerprint' (128-D embedding)</a:t>
            </a:r>
            <a:br/>
            <a:r>
              <a:t>for each detected object. Match using both position AND appearance.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5303520" cy="25603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4B2"/>
                </a:solidFill>
                <a:latin typeface="Calibri"/>
              </a:defRPr>
            </a:pPr>
            <a:r>
              <a:t>Two-Distance Matching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783080"/>
            <a:ext cx="4754880" cy="731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1783080"/>
            <a:ext cx="47548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874519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Mahalanobis Distance (Motion)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48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Is this detection where we expected it?</a:t>
            </a:r>
            <a:br/>
            <a:r>
              <a:t>Based on Kalman filter prediction.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651760"/>
            <a:ext cx="4754880" cy="7315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651760"/>
            <a:ext cx="475488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7432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2"/>
                </a:solidFill>
                <a:latin typeface="Calibri"/>
              </a:defRPr>
            </a:pPr>
            <a:r>
              <a:t>Cosine Distance (Appearance)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017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Does this detection look like the same object?</a:t>
            </a:r>
            <a:br/>
            <a:r>
              <a:t>Based on CNN visual embedding.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5669280" cy="25603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SORT vs DeepSORT —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5720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SORT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57200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DeepSORT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006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ID Switches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8006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~1,400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8006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~781 (-45%)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1206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~260 FPS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1206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~20 FPS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406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Handles occlusion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4406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Poor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4406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7607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Crowded scenes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7607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Struggles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7607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Handles well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0807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Detector needed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60807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Yes (YOLO)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60807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Yes (YOLO)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114800"/>
            <a:ext cx="5303520" cy="25603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206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6AF0"/>
                </a:solidFill>
                <a:latin typeface="Calibri"/>
              </a:defRPr>
            </a:pPr>
            <a:r>
              <a:t>DeepSORT Usage (Conceptual)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4805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pip install deep-sort-realtime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from deep_sort_realtime.deepsort_tracker \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    import DeepSort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1">
                <a:solidFill>
                  <a:srgbClr val="3DE08E"/>
                </a:solidFill>
                <a:latin typeface="Calibri"/>
              </a:defRPr>
            </a:pPr>
            <a:r>
              <a:t>tracker = DeepSort(max_age=30, n_init=3)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Each frame: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detections = yolo_model(frame)  # [[x,y,w,h,conf]]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3DE08E"/>
                </a:solidFill>
                <a:latin typeface="Calibri"/>
              </a:defRPr>
            </a:pPr>
            <a:r>
              <a:t>tracks = tracker.update_tracks(detections,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3DE08E"/>
                </a:solidFill>
                <a:latin typeface="Calibri"/>
              </a:defRPr>
            </a:pPr>
            <a:r>
              <a:t>                                frame=frame)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for track in tracks: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    if track.is_confirmed():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00D4FF"/>
                </a:solidFill>
                <a:latin typeface="Calibri"/>
              </a:defRPr>
            </a:pPr>
            <a:r>
              <a:t>        track_id = track.track_id  # persistent ID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00D4FF"/>
                </a:solidFill>
                <a:latin typeface="Calibri"/>
              </a:defRPr>
            </a:pPr>
            <a:r>
              <a:t>        bbox = track.to_ltrb()     # bounding box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Activity Zones &amp; Event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Focus analysis on specific tarmac areas and detect turnaround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943600" cy="30175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4B2"/>
                </a:solidFill>
                <a:latin typeface="Calibri"/>
              </a:defRPr>
            </a:pPr>
            <a:r>
              <a:t>Tarmac Activity Zones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Define polygon ROIs for each area. Only analyze motion</a:t>
            </a:r>
            <a:br/>
            <a:r>
              <a:t>inside each zone — reduces false positives dramatically.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394960" cy="18288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2377440"/>
            <a:ext cx="2286000" cy="548640"/>
          </a:xfrm>
          <a:prstGeom prst="rect">
            <a:avLst/>
          </a:prstGeom>
          <a:solidFill>
            <a:srgbClr val="5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AIRPLANE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68880"/>
            <a:ext cx="1371600" cy="502920"/>
          </a:xfrm>
          <a:prstGeom prst="rect">
            <a:avLst/>
          </a:prstGeom>
          <a:solidFill>
            <a:srgbClr val="0F321E"/>
          </a:solidFill>
          <a:ln w="19050">
            <a:solidFill>
              <a:srgbClr val="3DE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78608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DE08E"/>
                </a:solidFill>
                <a:latin typeface="Calibri"/>
              </a:defRPr>
            </a:pPr>
            <a:r>
              <a:t>Jet Bridge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468880"/>
            <a:ext cx="1097280" cy="502920"/>
          </a:xfrm>
          <a:prstGeom prst="rect">
            <a:avLst/>
          </a:prstGeom>
          <a:solidFill>
            <a:srgbClr val="321414"/>
          </a:solidFill>
          <a:ln w="19050">
            <a:solidFill>
              <a:srgbClr val="F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578608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5555"/>
                </a:solidFill>
                <a:latin typeface="Calibri"/>
              </a:defRPr>
            </a:pPr>
            <a:r>
              <a:t>Pushback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063240"/>
            <a:ext cx="1371600" cy="502920"/>
          </a:xfrm>
          <a:prstGeom prst="rect">
            <a:avLst/>
          </a:prstGeom>
          <a:solidFill>
            <a:srgbClr val="32230F"/>
          </a:solidFill>
          <a:ln w="1905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3172968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8C32"/>
                </a:solidFill>
                <a:latin typeface="Calibri"/>
              </a:defRPr>
            </a:pPr>
            <a:r>
              <a:t>Fuel Zone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063240"/>
            <a:ext cx="1371600" cy="502920"/>
          </a:xfrm>
          <a:prstGeom prst="rect">
            <a:avLst/>
          </a:prstGeom>
          <a:solidFill>
            <a:srgbClr val="0A2832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172968"/>
            <a:ext cx="12801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Baggage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063240"/>
            <a:ext cx="1097280" cy="502920"/>
          </a:xfrm>
          <a:prstGeom prst="rect">
            <a:avLst/>
          </a:prstGeom>
          <a:solidFill>
            <a:srgbClr val="231432"/>
          </a:solidFill>
          <a:ln w="19050">
            <a:solidFill>
              <a:srgbClr val="B06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172968"/>
            <a:ext cx="10058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06AF0"/>
                </a:solidFill>
                <a:latin typeface="Calibri"/>
              </a:defRPr>
            </a:pPr>
            <a:r>
              <a:t>Catering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280160"/>
            <a:ext cx="5029200" cy="30175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3716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Detectable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691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829E"/>
                </a:solidFill>
                <a:latin typeface="Calibri"/>
              </a:defRPr>
            </a:pPr>
            <a:r>
              <a:t>Monitor zone activity over time to detect each phase: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057400"/>
            <a:ext cx="4480560" cy="29260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2057400"/>
            <a:ext cx="36576" cy="292608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20756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DE08E"/>
                </a:solidFill>
                <a:latin typeface="Calibri"/>
              </a:defRPr>
            </a:pPr>
            <a:r>
              <a:t>Jet bridge extends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75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Jet Bridge zone &gt; 5% for &gt; 10 seconds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2404872"/>
            <a:ext cx="4480560" cy="29260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9440" y="2404872"/>
            <a:ext cx="36576" cy="292608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423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Fueling starts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423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Fuel Zone activity spike sustained &gt; 30s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2752344"/>
            <a:ext cx="4480560" cy="29260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0" y="2752344"/>
            <a:ext cx="36576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27706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Baggage loading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7706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Baggage zone sustained activity period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3099816"/>
            <a:ext cx="4480560" cy="29260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49440" y="3099816"/>
            <a:ext cx="36576" cy="292608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311810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06AF0"/>
                </a:solidFill>
                <a:latin typeface="Calibri"/>
              </a:defRPr>
            </a:pPr>
            <a:r>
              <a:t>Catering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118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Catering zone activity detected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49440" y="3447288"/>
            <a:ext cx="4480560" cy="29260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49440" y="3447288"/>
            <a:ext cx="36576" cy="292608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4655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555"/>
                </a:solidFill>
                <a:latin typeface="Calibri"/>
              </a:defRPr>
            </a:pPr>
            <a:r>
              <a:t>Pushback begins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34655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Pushback zone high motion spike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3794760"/>
            <a:ext cx="4480560" cy="292608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49440" y="3794760"/>
            <a:ext cx="36576" cy="29260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78040" y="3813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93D"/>
                </a:solidFill>
                <a:latin typeface="Calibri"/>
              </a:defRPr>
            </a:pPr>
            <a:r>
              <a:t>Turnaround done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38130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All zones return to baseline activity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572000"/>
            <a:ext cx="5669280" cy="21031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4663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C4B2"/>
                </a:solidFill>
                <a:latin typeface="Calibri"/>
              </a:defRPr>
            </a:pPr>
            <a:r>
              <a:t>Zone Analysis Code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49377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Define zone polygon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C8D6E5"/>
                </a:solidFill>
                <a:latin typeface="Calibri"/>
              </a:defRPr>
            </a:pPr>
            <a:r>
              <a:t>zone_mask = np.zeros(h, w), np.uint8)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3DE08E"/>
                </a:solidFill>
                <a:latin typeface="Calibri"/>
              </a:defRPr>
            </a:pPr>
            <a:r>
              <a:t>cv2.fillPoly(zone_mask, [polygon], 255)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Apply to foreground mask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3DE08E"/>
                </a:solidFill>
                <a:latin typeface="Calibri"/>
              </a:defRPr>
            </a:pPr>
            <a:r>
              <a:t>zone_fg = cv2.bitwise_and(fg_mask, zone_mask)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70829E"/>
                </a:solidFill>
                <a:latin typeface="Calibri"/>
              </a:defRPr>
            </a:pPr>
            <a:r>
              <a:t># Calculate activity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00D4FF"/>
                </a:solidFill>
                <a:latin typeface="Calibri"/>
              </a:defRPr>
            </a:pPr>
            <a:r>
              <a:t>activity = np.sum(zone_fg&gt;0) / np.sum(zone_mask&gt;0)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FF8C32"/>
                </a:solidFill>
                <a:latin typeface="Calibri"/>
              </a:defRPr>
            </a:pPr>
            <a:r>
              <a:t>is_active = activity &gt; 0.05  # 5% threshold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4572000"/>
            <a:ext cx="5303520" cy="21031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46634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5555"/>
                </a:solidFill>
                <a:latin typeface="Calibri"/>
              </a:defRPr>
            </a:pPr>
            <a:r>
              <a:t>Turnaround Time Formula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5029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Turnaround Time = departure_time - arrival_time</a:t>
            </a:r>
            <a:br/>
            <a:br/>
            <a:r>
              <a:t>Where:</a:t>
            </a:r>
            <a:br/>
            <a:r>
              <a:t>  arrival  = first sustained motion spike (airplane parks)</a:t>
            </a:r>
            <a:br/>
            <a:r>
              <a:t>  departure = pushback motion event detected</a:t>
            </a:r>
            <a:br/>
            <a:br/>
            <a:r>
              <a:t>All intermediate events are logged with start/end</a:t>
            </a:r>
            <a:br/>
            <a:r>
              <a:t>timestamps for a detailed breakdown of each</a:t>
            </a:r>
            <a:br/>
            <a:r>
              <a:t>servicing phase.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Complete Pipeline — Days 1 to 3 Combined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Every technique connects into a working video analysis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05840"/>
            <a:ext cx="2286000" cy="45720"/>
          </a:xfrm>
          <a:prstGeom prst="rect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23444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527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Read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216152"/>
            <a:ext cx="41148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271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VideoCapture → frame-by-frame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2710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Input acquisition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" y="1645920"/>
            <a:ext cx="36576" cy="201168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8470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Background Sub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1810512"/>
            <a:ext cx="41148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86537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MOG2 apply() → foreground 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8653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Detect moving objects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" y="2240280"/>
            <a:ext cx="36576" cy="201168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4414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6AF0"/>
                </a:solidFill>
                <a:latin typeface="Calibri"/>
              </a:defRPr>
            </a:pPr>
            <a:r>
              <a:t>Morph Cleanup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2404872"/>
            <a:ext cx="41148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4597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Opening + Closing the mask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4597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Remove noise, fill holes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" y="2834640"/>
            <a:ext cx="36576" cy="201168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7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0358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5555"/>
                </a:solidFill>
                <a:latin typeface="Calibri"/>
              </a:defRPr>
            </a:pPr>
            <a:r>
              <a:t>Find Contours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2999232"/>
            <a:ext cx="41148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305409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findContours → bounding boxes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0540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Locate and measure objects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" y="3429000"/>
            <a:ext cx="36576" cy="201168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7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630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Zone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51760" y="3593592"/>
            <a:ext cx="41148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364845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Mask by ROI polygons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6484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Focus on tarmac areas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" y="4023360"/>
            <a:ext cx="36576" cy="201168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7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22452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Calibri"/>
              </a:defRPr>
            </a:pPr>
            <a:r>
              <a:t>Track Objects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51760" y="4187952"/>
            <a:ext cx="41148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42428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CSRT / DeepSORT per object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2428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Maintain identity over 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" y="4617720"/>
            <a:ext cx="36576" cy="201168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7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48188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C4B2"/>
                </a:solidFill>
                <a:latin typeface="Calibri"/>
              </a:defRPr>
            </a:pPr>
            <a:r>
              <a:t>Motion Stats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51760" y="4782312"/>
            <a:ext cx="41148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88920" y="483717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Mean magnitude over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8371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Quantify activity levels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" y="5212080"/>
            <a:ext cx="36576" cy="201168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8640" y="5394960"/>
            <a:ext cx="365760" cy="365760"/>
          </a:xfrm>
          <a:prstGeom prst="ellipse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7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54132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6AB0"/>
                </a:solidFill>
                <a:latin typeface="Calibri"/>
              </a:defRPr>
            </a:pPr>
            <a:r>
              <a:t>Detect Events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51760" y="5376672"/>
            <a:ext cx="41148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88920" y="54315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Zone activity thresholds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54315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Log turnaround phases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6126480"/>
            <a:ext cx="11247120" cy="5486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6126480"/>
            <a:ext cx="1124712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621792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93D"/>
                </a:solidFill>
                <a:latin typeface="Calibri"/>
              </a:defRPr>
            </a:pPr>
            <a:r>
              <a:t>Three Days of Building Blocks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Day 1: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6446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Read, preprocess images (grayscale, blur, color spaces)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0559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DE08E"/>
                </a:solidFill>
                <a:latin typeface="Calibri"/>
              </a:defRPr>
            </a:pPr>
            <a:r>
              <a:t>Day 2: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199" y="6446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Extract structure (edges, contours, features) from each frame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Day 3: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0" y="6446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6E5"/>
                </a:solidFill>
                <a:latin typeface="Calibri"/>
              </a:defRPr>
            </a:pPr>
            <a:r>
              <a:t>Analyze sequences (motion, tracking, events over time)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Day 3 —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713232"/>
            <a:ext cx="22860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4864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124712"/>
            <a:ext cx="347472" cy="34747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0698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Video = frames in a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34416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cap.read() per frame — all Day 1 &amp; 2 techniques work inside the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64792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64792"/>
            <a:ext cx="54864" cy="5943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1837943"/>
            <a:ext cx="347472" cy="347472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7830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2"/>
                </a:solidFill>
                <a:latin typeface="Calibri"/>
              </a:defRPr>
            </a:pPr>
            <a:r>
              <a:t>Frame diff: fast but fragile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057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Subtract frames → threshold → contours. Fails with lighting and camera shake.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78024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78024"/>
            <a:ext cx="54864" cy="5943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2551176"/>
            <a:ext cx="347472" cy="347472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4963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E08E"/>
                </a:solidFill>
                <a:latin typeface="Calibri"/>
              </a:defRPr>
            </a:pPr>
            <a:r>
              <a:t>Background sub: learned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77063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MOG2 (Gaussian) or KNN. Adapts over time. Much more robust.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91256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91256"/>
            <a:ext cx="54864" cy="59436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264408"/>
            <a:ext cx="347472" cy="347472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20954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6AF0"/>
                </a:solidFill>
                <a:latin typeface="Calibri"/>
              </a:defRPr>
            </a:pPr>
            <a:r>
              <a:t>Optical flow: direction + 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83863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Sparse (Lucas-Kanade) for tracking points. Dense (Farneback) for full scene.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04487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904487"/>
            <a:ext cx="54864" cy="5943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3977639"/>
            <a:ext cx="347472" cy="347472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922775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5555"/>
                </a:solidFill>
                <a:latin typeface="Calibri"/>
              </a:defRPr>
            </a:pPr>
            <a:r>
              <a:t>Tracking preserves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19709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CSRT (accurate) | KCF (balanced) | MOSSE (fastest). Choose by FPS needs.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617720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617720"/>
            <a:ext cx="54864" cy="59436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4690872"/>
            <a:ext cx="347472" cy="347472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6360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alibri"/>
              </a:defRPr>
            </a:pPr>
            <a:r>
              <a:t>SORT + DeepSORT: auto MOT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9103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Kalman filter + Hungarian algorithm. DeepSORT adds appearance → -45% ID swaps.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30952"/>
            <a:ext cx="11247120" cy="594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330952"/>
            <a:ext cx="54864" cy="594360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" y="5404104"/>
            <a:ext cx="347472" cy="347472"/>
          </a:xfrm>
          <a:prstGeom prst="ellipse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349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C4B2"/>
                </a:solidFill>
                <a:latin typeface="Calibri"/>
              </a:defRPr>
            </a:pPr>
            <a:r>
              <a:t>Zones + events → project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56235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Define ROIs, monitor activity, log events → calculate turnaround time.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126480"/>
            <a:ext cx="11247120" cy="5029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6126480"/>
            <a:ext cx="11247120" cy="45720"/>
          </a:xfrm>
          <a:prstGeom prst="rect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1722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6AB0"/>
                </a:solidFill>
                <a:latin typeface="Calibri"/>
              </a:defRPr>
            </a:pPr>
            <a:r>
              <a:t>TOMORROW — Day 4: Deep Learning for Computer Vision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38251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YOLO object detection  •  Activity recognition  •  Building the airplane turnaround pipeline with DL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594360" cy="5943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Homework &amp; Preparation for Day 4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713232"/>
            <a:ext cx="22860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66928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DE08E"/>
                </a:solidFill>
                <a:latin typeface="Calibri"/>
              </a:defRPr>
            </a:pPr>
            <a:r>
              <a:t>Practice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20640" cy="5486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6576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764792"/>
            <a:ext cx="292608" cy="29260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Run the MotionAnalyzer class on the airplane video.</a:t>
            </a:r>
            <a:br/>
            <a:r>
              <a:t>Try adjusting min_area and varThreshold.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31720"/>
            <a:ext cx="5120640" cy="5486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331720"/>
            <a:ext cx="36576" cy="54864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404872"/>
            <a:ext cx="292608" cy="292608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3774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Compare MOG2 vs KNN on the same video.</a:t>
            </a:r>
            <a:br/>
            <a:r>
              <a:t>Which produces cleaner foreground masks?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71800"/>
            <a:ext cx="5120640" cy="5486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71800"/>
            <a:ext cx="36576" cy="54864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044952"/>
            <a:ext cx="292608" cy="292608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Implement sparse optical flow (Lucas-Kanade)</a:t>
            </a:r>
            <a:br/>
            <a:r>
              <a:t>and visualize the tracked feature 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11879"/>
            <a:ext cx="5120640" cy="5486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611879"/>
            <a:ext cx="36576" cy="54864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685031"/>
            <a:ext cx="292608" cy="292608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"/>
              </a:spcBef>
              <a:defRPr sz="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65759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Try CSRT tracking on a specific ground vehicle</a:t>
            </a:r>
            <a:br/>
            <a:r>
              <a:t>in the airplane video. Note when it loses track.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53035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280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Think Ahead for Day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16916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Tomorrow we add deep learning intelligence.</a:t>
            </a:r>
            <a:br/>
            <a:r>
              <a:t>Instead of detecting generic 'motion blobs,' we'll</a:t>
            </a:r>
            <a:br/>
            <a:r>
              <a:t>use YOLO to identify specific objects:</a:t>
            </a:r>
            <a:br/>
            <a:br/>
            <a:r>
              <a:t>  • 'This is a fuel truck'</a:t>
            </a:r>
            <a:br/>
            <a:r>
              <a:t>  • 'That is a jet bridge'</a:t>
            </a:r>
            <a:br/>
            <a:r>
              <a:t>  • 'Those are baggage carts'</a:t>
            </a:r>
            <a:br/>
            <a:br/>
            <a:r>
              <a:t>Start thinking about what specific objects you see</a:t>
            </a:r>
            <a:br/>
            <a:r>
              <a:t>in the airplane video.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200400"/>
            <a:ext cx="4754880" cy="54864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24612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0829E"/>
                </a:solidFill>
                <a:latin typeface="Calibri"/>
              </a:defRPr>
            </a:pPr>
            <a:r>
              <a:t>Install for tomorrow: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4747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E08E"/>
                </a:solidFill>
                <a:latin typeface="Calibri"/>
              </a:defRPr>
            </a:pPr>
            <a:r>
              <a:t>pip install ultralytics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06240"/>
            <a:ext cx="11247120" cy="24688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4B2"/>
                </a:solidFill>
                <a:latin typeface="Calibri"/>
              </a:defRPr>
            </a:pPr>
            <a:r>
              <a:t>Key Resources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09160"/>
            <a:ext cx="5394960" cy="5029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709160"/>
            <a:ext cx="36576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7365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OpenCV Video Tutorial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651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docs.opencv.org/4.x/dd/d43/tutorial_py_video_display.html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709160"/>
            <a:ext cx="5394960" cy="5029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709160"/>
            <a:ext cx="36576" cy="5029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7365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E08E"/>
                </a:solidFill>
                <a:latin typeface="Calibri"/>
              </a:defRPr>
            </a:pPr>
            <a:r>
              <a:t>Background Subtraction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9651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docs.opencv.org/4.x/d8/d38/tutorial_bgsegm_bg_subtraction.html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303520"/>
            <a:ext cx="5394960" cy="5029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5303520"/>
            <a:ext cx="36576" cy="5029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33095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6AF0"/>
                </a:solidFill>
                <a:latin typeface="Calibri"/>
              </a:defRPr>
            </a:pPr>
            <a:r>
              <a:t>Optical Flow Tutorial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55955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docs.opencv.org/4.x/d4/dee/tutorial_optical_flow.html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303520"/>
            <a:ext cx="5394960" cy="5029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5303520"/>
            <a:ext cx="36576" cy="5029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533095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5555"/>
                </a:solidFill>
                <a:latin typeface="Calibri"/>
              </a:defRPr>
            </a:pPr>
            <a:r>
              <a:t>Object Tracking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55955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pyimagesearch.com/2018/07/30/opencv-object-tracking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897880"/>
            <a:ext cx="5394960" cy="5029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5897880"/>
            <a:ext cx="36576" cy="5029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9253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32"/>
                </a:solidFill>
                <a:latin typeface="Calibri"/>
              </a:defRPr>
            </a:pPr>
            <a:r>
              <a:t>DeepSORT Paper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61539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arxiv.org/abs/1703.07402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897880"/>
            <a:ext cx="5394960" cy="5029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5897880"/>
            <a:ext cx="36576" cy="5029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59253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Calibri"/>
              </a:defRPr>
            </a:pPr>
            <a:r>
              <a:t>LearnOpenCV Motion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61539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learnopencv.com/moving-object-detection-with-opencv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