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926080"/>
            <a:ext cx="758952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08030"/>
                </a:solidFill>
                <a:latin typeface="Calibri"/>
              </a:defRPr>
            </a:pPr>
            <a:r>
              <a:t>From Practice to Advanced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90AA"/>
                </a:solidFill>
                <a:latin typeface="Calibri"/>
              </a:defRPr>
            </a:pPr>
            <a:r>
              <a:t>Part 2  |  Hands-On Datasets  •  VGG &amp; ResNet  •  Transfer Learning  •  YOLO  •  RNNs &amp; Transformers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06240"/>
            <a:ext cx="301752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301752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8920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MNIST • Fashion MNIST • CIFAR-10 • Kaggle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206240"/>
            <a:ext cx="301752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4206240"/>
            <a:ext cx="301752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ARCHITECTURES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8920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VGG • ResNet • Transfer Learning • YOLO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206240"/>
            <a:ext cx="301752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206240"/>
            <a:ext cx="3017520" cy="54864"/>
          </a:xfrm>
          <a:prstGeom prst="rect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NEW DOMAINS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920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RNNs • LSTM • Transformers • Attention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9418320" cy="685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03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Hands-On: MNIST, Fashion MNIST, CIFAR-10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Building &amp; training CNNs on benchmark datasets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59152"/>
            <a:ext cx="9418320" cy="685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323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Advanced Architectures: VGG &amp; ResNet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24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Deep networks, skip connections, residual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163824"/>
            <a:ext cx="9418320" cy="685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2369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095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Transfer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52958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Feature extraction &amp; fine-tuning pre-trained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968496"/>
            <a:ext cx="9418320" cy="685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041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D5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0142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Object Detection with YOLO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3342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From classification to real-time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73168"/>
            <a:ext cx="9418320" cy="685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6CD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18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Beyond CNNs: RNNs &amp; Transformers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38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Sequential data, attention, and the future of DL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577840"/>
            <a:ext cx="9418320" cy="685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650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C4B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Kaggle &amp;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Competitions, resources, and project ideas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Core Datasets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918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329184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8030"/>
                </a:solidFill>
                <a:latin typeface="Calibri"/>
              </a:defRPr>
            </a:pPr>
            <a:r>
              <a:t>MNIST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28×28 • Grayscale • 60K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Handwritten digits (0–9)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The "Hello World" of 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090AA"/>
                </a:solidFill>
                <a:latin typeface="Calibri"/>
              </a:defRPr>
            </a:pPr>
            <a:r>
              <a:t>TARGET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4348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8030"/>
                </a:solidFill>
                <a:latin typeface="Calibri"/>
              </a:defRPr>
            </a:pPr>
            <a:r>
              <a:t>99%+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2918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554480"/>
            <a:ext cx="32918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89CF0"/>
                </a:solidFill>
                <a:latin typeface="Calibri"/>
              </a:defRPr>
            </a:pPr>
            <a:r>
              <a:t>Fashion MNIST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28×28 • Grayscale • 60K 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Clothing items (10 classes)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Harder: shirts vs pullovers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090AA"/>
                </a:solidFill>
                <a:latin typeface="Calibri"/>
              </a:defRPr>
            </a:pPr>
            <a:r>
              <a:t>TARGET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348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9CF0"/>
                </a:solidFill>
                <a:latin typeface="Calibri"/>
              </a:defRPr>
            </a:pPr>
            <a:r>
              <a:t>93%+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554480"/>
            <a:ext cx="3291840" cy="54864"/>
          </a:xfrm>
          <a:prstGeom prst="rect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80"/>
                </a:solidFill>
                <a:latin typeface="Calibri"/>
              </a:defRPr>
            </a:pPr>
            <a:r>
              <a:t>CIFAR-10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32×32 • RGB • 50K 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Real objects (animals, vehicles)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Complex scenes, color 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090AA"/>
                </a:solidFill>
                <a:latin typeface="Calibri"/>
              </a:defRPr>
            </a:pPr>
            <a:r>
              <a:t>TARGET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348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80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090AA"/>
                </a:solidFill>
                <a:latin typeface="Calibri"/>
              </a:defRPr>
            </a:pPr>
            <a:r>
              <a:t>Progression:  MNIST (learn basics)  →  Fashion MNIST (learn regularization)  →  CIFAR-10 (learn advanced techniques)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Building a CNN for MNIST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7373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91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030"/>
                </a:solidFill>
                <a:latin typeface="Calibri"/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Load &amp; normalize</a:t>
            </a:r>
            <a:br/>
            <a:r>
              <a:t>pixel values → [0,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554480"/>
            <a:ext cx="17373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6080" y="1691640"/>
            <a:ext cx="640080" cy="640080"/>
          </a:xfrm>
          <a:prstGeom prst="ellipse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9CF0"/>
                </a:solidFill>
                <a:latin typeface="Calibri"/>
              </a:defRPr>
            </a:pPr>
            <a:r>
              <a:t>RESHAPE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Add channel dim</a:t>
            </a:r>
            <a:br/>
            <a:r>
              <a:t>(28, 28) → (28, 28,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17373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1691640"/>
            <a:ext cx="640080" cy="640080"/>
          </a:xfrm>
          <a:prstGeom prst="ellipse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80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Conv→Pool→Conv→Pool</a:t>
            </a:r>
            <a:br/>
            <a:r>
              <a:t>→Flatten→Dense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17373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1691640"/>
            <a:ext cx="640080" cy="640080"/>
          </a:xfrm>
          <a:prstGeom prst="ellipse">
            <a:avLst/>
          </a:prstGeom>
          <a:solidFill>
            <a:srgbClr val="A06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D5"/>
                </a:solidFill>
                <a:latin typeface="Calibri"/>
              </a:defRPr>
            </a:pPr>
            <a:r>
              <a:t>COMPILE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Adam optimizer</a:t>
            </a:r>
            <a:br/>
            <a:r>
              <a:t>Sparse Cat. 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17373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1691640"/>
            <a:ext cx="640080" cy="640080"/>
          </a:xfrm>
          <a:prstGeom prst="ellipse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5D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10 epochs, batch 128</a:t>
            </a:r>
            <a:br/>
            <a:r>
              <a:t>Validation split 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554480"/>
            <a:ext cx="173736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1691640"/>
            <a:ext cx="640080" cy="64008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C4B2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Test accuracy</a:t>
            </a:r>
            <a:br/>
            <a:r>
              <a:t>≈ 99.0–99.3%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03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0CCE0"/>
                </a:solidFill>
                <a:latin typeface="Calibri"/>
              </a:defRPr>
            </a:pPr>
            <a:r>
              <a:t>Conv2D(32, 3×3, ReLU)  →  MaxPool(2×2)  →  Conv2D(64, 3×3, ReLU)  →  MaxPool(2×2)</a:t>
            </a:r>
            <a:br/>
            <a:r>
              <a:t>→  Flatten  →  Dense(128, ReLU)  →  Dropout(0.5)  →  Dense(10, Softmax)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9CF0"/>
                </a:solidFill>
                <a:latin typeface="Calibri"/>
              </a:defRPr>
            </a:pPr>
            <a:r>
              <a:t>Key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Total parameters: ~225K (lightweight, trains in minutes)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167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60167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Dropout(0.5) prevents overfitting on the dense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3642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636422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sparse_categorical_crossentropy because labels are integers (0–9), not one-hot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7116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71169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Normalize pixels to [0, 1] for faster, more stable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Fashion MNIST &amp; Data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Why Harder Than MNIST?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High intra-class variation (shirts look very different)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Low inter-class distinction (shirt ≈ pullover ≈ coat)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Best simple CNN: ~91–93% (vs 99%+ for MNIST)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29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Requires regularization techniques to perform well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02920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0"/>
                </a:solidFill>
                <a:latin typeface="Calibri"/>
              </a:defRPr>
            </a:pPr>
            <a:r>
              <a:t>Improved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Double conv per block + BatchNormalization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padding='same' to preserve spatial dims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017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Progressive dropout: 25% → 25% → 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429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256 dense units before softmax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698480" cy="24688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030"/>
                </a:solidFill>
                <a:latin typeface="Calibri"/>
              </a:defRPr>
            </a:pPr>
            <a:r>
              <a:t>Data Augmentation — Key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09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Artificially increase training data by applying random transformations during training. The model sees slightly different versions each epoch, learning invariance to these changes.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03520"/>
            <a:ext cx="2468880" cy="10972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030"/>
                </a:solidFill>
                <a:latin typeface="Calibri"/>
              </a:defRPr>
            </a:pPr>
            <a:r>
              <a:t>Rotation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±10°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Handles tilted images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5303520"/>
            <a:ext cx="2468880" cy="10972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030"/>
                </a:solidFill>
                <a:latin typeface="Calibri"/>
              </a:defRPr>
            </a:pPr>
            <a:r>
              <a:t>Width/Height Shift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±10%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Handles off-center objects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303520"/>
            <a:ext cx="2468880" cy="10972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030"/>
                </a:solidFill>
                <a:latin typeface="Calibri"/>
              </a:defRPr>
            </a:pPr>
            <a:r>
              <a:t>Zoom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±10%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Handles scale variations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5303520"/>
            <a:ext cx="2468880" cy="10972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030"/>
                </a:solidFill>
                <a:latin typeface="Calibri"/>
              </a:defRPr>
            </a:pPr>
            <a:r>
              <a:t>Horizontal Flip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Doubles effective data for symmetric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CIFAR-10: The Real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0"/>
                </a:solidFill>
                <a:latin typeface="Calibri"/>
              </a:defRPr>
            </a:pPr>
            <a:r>
              <a:t>What Makes CIFAR-10 Hard?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32×32 RGB images — very small for real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786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Complex backgrounds and cluttered scenes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626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626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Similar classes: cat vs dog, automobile vs truck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4670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Simple CNN: only ~70–75%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554480"/>
            <a:ext cx="4846320" cy="20116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6CD5"/>
                </a:solidFill>
                <a:latin typeface="Calibri"/>
              </a:defRPr>
            </a:pPr>
            <a:r>
              <a:t>Deep CNN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D5"/>
                </a:solidFill>
                <a:latin typeface="Calibri"/>
              </a:defRPr>
            </a:pPr>
            <a:r>
              <a:t>Block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32 filters, Dropout 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D5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64 filters, Dropout 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43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D5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437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128 filters, Dropout 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91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D5"/>
                </a:solidFill>
                <a:latin typeface="Calibri"/>
              </a:defRPr>
            </a:pPr>
            <a:r>
              <a:t>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912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Dense 256, Dropout 0.5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069848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030"/>
                </a:solidFill>
                <a:latin typeface="Calibri"/>
              </a:defRPr>
            </a:pPr>
            <a:r>
              <a:t>Training Strategies for CIFAR-10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ReduceLROnPlateau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480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Halves learning rate when validation loss plateaus for 3 epochs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EarlyStopping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983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Stops training when no improvement; restores best weights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Aggressive Augmentation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4864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Rotation ±15°, shifts, flips, zoom for better generalization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989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D5"/>
                </a:solidFill>
                <a:latin typeface="Calibri"/>
              </a:defRPr>
            </a:pPr>
            <a:r>
              <a:t>BatchNormalization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989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Normalizes layer outputs for faster, more stable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VGG — The Power of Depth &amp; Simplicity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400800" cy="21031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Core 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Only 3×3 convolution filters everywhere (smallest meaningful size)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3288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Only 2×2 max pooling to halve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1693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Double filters after each pool: 64 → 128 → 256 → 512 → 512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009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0098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Two 3×3 convs = same receptive field as one 5×5, fewer params, more non-linearity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554480"/>
            <a:ext cx="3931920" cy="21031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030"/>
                </a:solidFill>
                <a:latin typeface="Calibri"/>
              </a:defRPr>
            </a:pPr>
            <a:r>
              <a:t>VGG16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 weight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96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138 million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843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Model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437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~528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191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A"/>
                </a:solidFill>
                <a:latin typeface="Calibri"/>
              </a:defRPr>
            </a:pPr>
            <a:r>
              <a:t>Top-1 Acc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912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71.3% (ImageNet)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VGG16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572000"/>
            <a:ext cx="1600200" cy="164592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63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8030"/>
                </a:solidFill>
                <a:latin typeface="Calibri"/>
              </a:defRPr>
            </a:pPr>
            <a:r>
              <a:t>Block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Conv3-64 ×2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90AA"/>
                </a:solidFill>
                <a:latin typeface="Calibri"/>
              </a:defRPr>
            </a:pPr>
            <a:r>
              <a:t>MaxPool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4572000"/>
            <a:ext cx="1600200" cy="164592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4663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8030"/>
                </a:solidFill>
                <a:latin typeface="Calibri"/>
              </a:defRPr>
            </a:pPr>
            <a:r>
              <a:t>Block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Conv3-128 ×2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90AA"/>
                </a:solidFill>
                <a:latin typeface="Calibri"/>
              </a:defRPr>
            </a:pPr>
            <a:r>
              <a:t>MaxPool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4572000"/>
            <a:ext cx="1600200" cy="164592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663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9CF0"/>
                </a:solidFill>
                <a:latin typeface="Calibri"/>
              </a:defRPr>
            </a:pPr>
            <a:r>
              <a:t>Block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Conv3-256 ×3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90AA"/>
                </a:solidFill>
                <a:latin typeface="Calibri"/>
              </a:defRPr>
            </a:pPr>
            <a:r>
              <a:t>MaxPool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572000"/>
            <a:ext cx="1600200" cy="164592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79" y="4663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9CF0"/>
                </a:solidFill>
                <a:latin typeface="Calibri"/>
              </a:defRPr>
            </a:pPr>
            <a:r>
              <a:t>Block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Conv3-512 ×3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79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90AA"/>
                </a:solidFill>
                <a:latin typeface="Calibri"/>
              </a:defRPr>
            </a:pPr>
            <a:r>
              <a:t>MaxPool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572000"/>
            <a:ext cx="1600200" cy="164592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4663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980"/>
                </a:solidFill>
                <a:latin typeface="Calibri"/>
              </a:defRPr>
            </a:pPr>
            <a:r>
              <a:t>Block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Conv3-512 ×3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90AA"/>
                </a:solidFill>
                <a:latin typeface="Calibri"/>
              </a:defRPr>
            </a:pPr>
            <a:r>
              <a:t>MaxPool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800" y="4572000"/>
            <a:ext cx="1600200" cy="164592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4663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06CD5"/>
                </a:solidFill>
                <a:latin typeface="Calibri"/>
              </a:defRPr>
            </a:pPr>
            <a:r>
              <a:t>FC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4983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4096 → 4096 → 1000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90AA"/>
                </a:solidFill>
                <a:latin typeface="Calibri"/>
              </a:defRPr>
            </a:pPr>
            <a:r>
              <a:t>Softmax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ResNet — Skip Connections Revolution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1945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D5D"/>
                </a:solidFill>
                <a:latin typeface="Calibri"/>
              </a:defRPr>
            </a:pPr>
            <a:r>
              <a:t>The Degradation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Before ResNet, deeper networks performed WORSE:</a:t>
            </a:r>
            <a:br/>
            <a:br/>
            <a:r>
              <a:t>  20-layer network:  92% accuracy</a:t>
            </a:r>
            <a:br/>
            <a:r>
              <a:t>  56-layer network:  90% accuracy   ← worse!</a:t>
            </a:r>
            <a:br/>
            <a:br/>
            <a:r>
              <a:t>Not overfitting — a fundamental training problem.</a:t>
            </a:r>
            <a:br/>
            <a:r>
              <a:t>Gradients vanish through many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1945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0"/>
                </a:solidFill>
                <a:latin typeface="Calibri"/>
              </a:defRPr>
            </a:pPr>
            <a:r>
              <a:t>The Solution: Residual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Instead of learning H(x), learn residual F(x):</a:t>
            </a:r>
            <a:br/>
            <a:br/>
            <a:r>
              <a:t>  Output = F(x) + x    (skip connection)</a:t>
            </a:r>
            <a:br/>
            <a:br/>
            <a:r>
              <a:t>• If optimal = identity, just learn F(x) ≈ 0</a:t>
            </a:r>
            <a:br/>
            <a:r>
              <a:t>• Gradients flow directly through shortcuts</a:t>
            </a:r>
            <a:br/>
            <a:r>
              <a:t>• Can train 100+ layers effectively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0"/>
                </a:solidFill>
                <a:latin typeface="Calibri"/>
              </a:defRPr>
            </a:pPr>
            <a:r>
              <a:t>ResNet 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90AA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90AA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90AA"/>
                </a:solidFill>
                <a:latin typeface="Calibri"/>
              </a:defRPr>
            </a:pPr>
            <a:r>
              <a:t>Top-1 Acc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030"/>
                </a:solidFill>
                <a:latin typeface="Calibri"/>
              </a:defRPr>
            </a:pPr>
            <a:r>
              <a:t>ResNet-18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11.7M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76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030"/>
                </a:solidFill>
                <a:latin typeface="Calibri"/>
              </a:defRPr>
            </a:pPr>
            <a:r>
              <a:t>ResNet-34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376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21.8M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376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9CF0"/>
                </a:solidFill>
                <a:latin typeface="Calibri"/>
              </a:defRPr>
            </a:pPr>
            <a:r>
              <a:t>ResNet-50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25.6M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76.1%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071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80"/>
                </a:solidFill>
                <a:latin typeface="Calibri"/>
              </a:defRPr>
            </a:pPr>
            <a:r>
              <a:t>ResNet-101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6071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44.5M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6071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419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D5"/>
                </a:solidFill>
                <a:latin typeface="Calibri"/>
              </a:defRPr>
            </a:pPr>
            <a:r>
              <a:t>ResNet-152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6419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60.2M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6419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78.3%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572000"/>
            <a:ext cx="429768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709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030"/>
                </a:solidFill>
                <a:latin typeface="Calibri"/>
              </a:defRPr>
            </a:pPr>
            <a:r>
              <a:t>VGG16 vs ResNet-50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120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138M vs 25.6M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422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Model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422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528 MB vs 98 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ImageNet Acc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724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71.3% vs 76.1%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6025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90AA"/>
                </a:solidFill>
                <a:latin typeface="Calibri"/>
              </a:defRPr>
            </a:pPr>
            <a:r>
              <a:t>Depth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60258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 vs 50 layers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CE0"/>
                </a:solidFill>
                <a:latin typeface="Calibri"/>
              </a:defRPr>
            </a:pPr>
            <a:r>
              <a:t>Take a model trained on ImageNet (1.2M images, 1000 classes) and adapt it for your task with far less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80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90AA"/>
                </a:solidFill>
                <a:latin typeface="Calibri"/>
              </a:defRPr>
            </a:pPr>
            <a:r>
              <a:t>Freeze the entire pre-trained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Load pre-trained model (e.g., VGG16, ResNet50)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Set base_model.trainable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Add new Dense layers for your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Train only the new head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Best for: small datasets, similar to ImageNet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502920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06CD5"/>
                </a:solidFill>
                <a:latin typeface="Calibri"/>
              </a:defRPr>
            </a:pPr>
            <a:r>
              <a:t>Fine-Tuning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90AA"/>
                </a:solidFill>
                <a:latin typeface="Calibri"/>
              </a:defRPr>
            </a:pPr>
            <a:r>
              <a:t>Unfreeze top layers, retrain with low 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Start from feature extraction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474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Unfreeze last few layers of base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Use very small learning rate (1e-5)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Train to adapt features to your 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Best for: medium+ datasets, different domain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03520"/>
            <a:ext cx="10698480" cy="12801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030"/>
                </a:solidFill>
                <a:latin typeface="Calibri"/>
              </a:defRPr>
            </a:pPr>
            <a:r>
              <a:t>Popular Pre-trained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90AA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90AA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90AA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90AA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MobileNetV2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3.4M • 14 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EfficientNetB0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5.3M • 29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ResNet50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25.6M • 98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VGG16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138M • 528 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Object Detection with YOLO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3716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5D"/>
                </a:solidFill>
                <a:latin typeface="Calibri"/>
              </a:defRPr>
            </a:pPr>
            <a:r>
              <a:t>Classification vs Detection vs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030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"This is a cat"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9CF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Cat at (x1,y1,x2,y2)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80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90AA"/>
                </a:solidFill>
                <a:latin typeface="Calibri"/>
              </a:defRPr>
            </a:pPr>
            <a:r>
              <a:t>Every pixel labeled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029200" cy="13716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5D"/>
                </a:solidFill>
                <a:latin typeface="Calibri"/>
              </a:defRPr>
            </a:pPr>
            <a:r>
              <a:t>YOLO = You Only Look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Single-pass detection: divides image into grid,</a:t>
            </a:r>
            <a:br/>
            <a:r>
              <a:t>each cell predicts boxes + classes simultaneously.</a:t>
            </a:r>
            <a:br/>
            <a:r>
              <a:t>Real-time: 45+ FPS (vs seconds for older methods).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06984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D5D"/>
                </a:solidFill>
                <a:latin typeface="Calibri"/>
              </a:defRPr>
            </a:pPr>
            <a:r>
              <a:t>How YOLO 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1828800" cy="91440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5D"/>
                </a:solidFill>
                <a:latin typeface="Calibri"/>
              </a:defRPr>
            </a:pPr>
            <a:r>
              <a:t>1. 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Divide image</a:t>
            </a:r>
            <a:br/>
            <a:r>
              <a:t>into S×S grid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657600"/>
            <a:ext cx="1828800" cy="91440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5D"/>
                </a:solidFill>
                <a:latin typeface="Calibri"/>
              </a:defRPr>
            </a:pPr>
            <a:r>
              <a:t>2. 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Each cell predicts</a:t>
            </a:r>
            <a:br/>
            <a:r>
              <a:t>B bounding boxes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657600"/>
            <a:ext cx="1828800" cy="91440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9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5D"/>
                </a:solidFill>
                <a:latin typeface="Calibri"/>
              </a:defRPr>
            </a:pPr>
            <a:r>
              <a:t>3. Classify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Assign class</a:t>
            </a:r>
            <a:br/>
            <a:r>
              <a:t>probabilities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59" y="3657600"/>
            <a:ext cx="1828800" cy="91440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9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5D"/>
                </a:solidFill>
                <a:latin typeface="Calibri"/>
              </a:defRPr>
            </a:pPr>
            <a:r>
              <a:t>4. NMS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9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Remove duplicate</a:t>
            </a:r>
            <a:br/>
            <a:r>
              <a:t>detections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3657600"/>
            <a:ext cx="1828800" cy="91440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19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5D"/>
                </a:solidFill>
                <a:latin typeface="Calibri"/>
              </a:defRPr>
            </a:pPr>
            <a:r>
              <a:t>5.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3977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Final boxes</a:t>
            </a:r>
            <a:br/>
            <a:r>
              <a:t>+ labels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29200"/>
            <a:ext cx="106984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03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IoU (Intersection over Union) — measures box overlap, 0=none, 1=perfect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253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9253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mAP (Mean Average Precision) — standard detection metric, higher = better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27278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6272783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Anchor Boxes — pre-defined box shapes as starting points for predictions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6202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66202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NMS — removes duplicate detections, keeps highest-confidence box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Recurrent Neural Networks (RNNs)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A06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CE0"/>
                </a:solidFill>
                <a:latin typeface="Calibri"/>
              </a:defRPr>
            </a:pPr>
            <a:r>
              <a:t>CNNs handle spatial data (images). RNNs handle sequential data where order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21031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6CD5"/>
                </a:solidFill>
                <a:latin typeface="Calibri"/>
              </a:defRPr>
            </a:pPr>
            <a:r>
              <a:t>How RNNs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Process sequences one element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535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Maintain hidden state (memory) across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009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0098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Same weights reused at every time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484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h_t = tanh(W_xh · x_t + W_hh · h_{t-1} +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959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D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9592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Output depends on current input + past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5029200" cy="21031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C4B2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06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Sentiment analysis (tweet → positive/negative)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535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535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Machine translation (English → French)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009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0098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Text generation (prompt → story)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484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484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Speech recognition (audio → text)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959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9592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Time series forecasting (stocks, weather)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69848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5D5D"/>
                </a:solidFill>
                <a:latin typeface="Calibri"/>
              </a:defRPr>
            </a:pPr>
            <a:r>
              <a:t>The Vanishing Gradient Problem &amp; Solutions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RNNs struggle with long sequences — gradients shrink to ~0 after 20–30 steps, losing long-range memory.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4864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3 gates (forget, input, output) + cell state highway. Learns what to remember/forget.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0"/>
                </a:solidFill>
                <a:latin typeface="Calibri"/>
              </a:defRPr>
            </a:pPr>
            <a:r>
              <a:t>GRU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9893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Simplified LSTM with 2 gates (update, reset). Fewer parameters, often similar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Transformers — The Architecture Behind Modern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C4B2"/>
                </a:solidFill>
                <a:latin typeface="Calibri"/>
              </a:defRPr>
            </a:pPr>
            <a:r>
              <a:t>Why Transformers Beat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Parallel processing (not sequential → much faster)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591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Handles long-range dependencies naturally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066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Scales to billions of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C4B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5409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"Attention Is All You Need" (2017)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502920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030"/>
                </a:solidFill>
                <a:latin typeface="Calibri"/>
              </a:defRPr>
            </a:pPr>
            <a:r>
              <a:t>Self-Attention (Core Idea)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Every token attends to every other token:</a:t>
            </a:r>
            <a:br/>
            <a:br/>
            <a:r>
              <a:t>  Q (Query) × K (Key)^T / √d_k → Softmax → × V (Value)</a:t>
            </a:r>
            <a:br/>
            <a:br/>
            <a:r>
              <a:t>Multi-head: run multiple attention heads</a:t>
            </a:r>
            <a:br/>
            <a:r>
              <a:t>in parallel for different relationship types.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C4B2"/>
                </a:solidFill>
                <a:latin typeface="Calibri"/>
              </a:defRPr>
            </a:pPr>
            <a:r>
              <a:t>Transformer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23360"/>
            <a:ext cx="1874519" cy="6400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416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8030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159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90AA"/>
                </a:solidFill>
                <a:latin typeface="Calibri"/>
              </a:defRPr>
            </a:pPr>
            <a:r>
              <a:t>Text → vectors</a:t>
            </a:r>
            <a:br/>
            <a:r>
              <a:t>+ position info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023360"/>
            <a:ext cx="1874519" cy="6400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0416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9CF0"/>
                </a:solidFill>
                <a:latin typeface="Calibri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3159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90AA"/>
                </a:solidFill>
                <a:latin typeface="Calibri"/>
              </a:defRPr>
            </a:pPr>
            <a:r>
              <a:t>Token-to-token</a:t>
            </a:r>
            <a:br/>
            <a:r>
              <a:t>relationships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023360"/>
            <a:ext cx="1874519" cy="6400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9" y="40416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80"/>
                </a:solidFill>
                <a:latin typeface="Calibri"/>
              </a:defRPr>
            </a:pPr>
            <a:r>
              <a:t>Feed-Forward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3159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90AA"/>
                </a:solidFill>
                <a:latin typeface="Calibri"/>
              </a:defRPr>
            </a:pPr>
            <a:r>
              <a:t>Refine each</a:t>
            </a:r>
            <a:br/>
            <a:r>
              <a:t>token repr.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59" y="4023360"/>
            <a:ext cx="1874519" cy="6400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9" y="40416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6CD5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9" y="43159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90AA"/>
                </a:solidFill>
                <a:latin typeface="Calibri"/>
              </a:defRPr>
            </a:pPr>
            <a:r>
              <a:t>Process input</a:t>
            </a:r>
            <a:br/>
            <a:r>
              <a:t>(BERT)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4023360"/>
            <a:ext cx="1874519" cy="640080"/>
          </a:xfrm>
          <a:prstGeom prst="roundRect">
            <a:avLst/>
          </a:prstGeom>
          <a:solidFill>
            <a:srgbClr val="1C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19" y="40416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5D5D"/>
                </a:solidFill>
                <a:latin typeface="Calibri"/>
              </a:defRPr>
            </a:pPr>
            <a:r>
              <a:t>Decoder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43159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90AA"/>
                </a:solidFill>
                <a:latin typeface="Calibri"/>
              </a:defRPr>
            </a:pPr>
            <a:r>
              <a:t>Generate output</a:t>
            </a:r>
            <a:br/>
            <a:r>
              <a:t>(GPT)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29200"/>
            <a:ext cx="106984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030"/>
                </a:solidFill>
                <a:latin typeface="Calibri"/>
              </a:defRPr>
            </a:pPr>
            <a:r>
              <a:t>Models Built on Transformers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090AA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090AA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090AA"/>
                </a:solidFill>
                <a:latin typeface="Calibri"/>
              </a:defRPr>
            </a:pPr>
            <a:r>
              <a:t>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090AA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852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BERT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852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852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852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Text understanding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61081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GPT-4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6108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Decoder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108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1081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Text generation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636422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T5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6364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Enc-Dec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364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63642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Translation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662025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ViT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6620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620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66202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Image classification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68762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DALL-E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6876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Decoder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876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68762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Image generation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7132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Whisper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7132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Enc-Dec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7132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7132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E0"/>
                </a:solidFill>
                <a:latin typeface="Calibri"/>
              </a:defRPr>
            </a:pPr>
            <a:r>
              <a:t>Speech recognition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Kaggle Competitions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54864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C4B2"/>
                </a:solidFill>
                <a:latin typeface="Calibri"/>
              </a:defRPr>
            </a:pPr>
            <a:r>
              <a:t>Competitions to Try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Digit Recognizer (MNIST)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Target: &gt;99%   |   kaggle.com/competitions/digit-recognizer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3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Fashion MNIST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3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Target: &gt;93%   |   kaggle.com/competitions/fashion-mnist-competition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CIFAR-10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AA"/>
                </a:solidFill>
                <a:latin typeface="Calibri"/>
              </a:defRPr>
            </a:pPr>
            <a:r>
              <a:t>Target: &gt;95%   |   kaggle.com/c/cifar-10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63040"/>
            <a:ext cx="484632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030"/>
                </a:solidFill>
                <a:latin typeface="Calibri"/>
              </a:defRPr>
            </a:pPr>
            <a:r>
              <a:t>Kaggle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057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Start with basic CNN → submit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23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Add BatchNorm + Dropout →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88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788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Apply data augmentation → generalize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54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Try transfer learning → big jump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20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Ensemble multiple models → top scores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530352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Learning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17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TensorFlow Tutorials — tensorflow.org/tutorials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94690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PyTorch Tutorials — pytorch.org/tutorials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760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27608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Dive into Deep Learning — d2l.ai (free textbook)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052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6052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CS231n (Stanford) — YouTube (CNNs)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9344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9344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CS224n (Stanford) — YouTube (NLP)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263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Fast.ai — free practical course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023360"/>
            <a:ext cx="50292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0"/>
                </a:solidFill>
                <a:latin typeface="Calibri"/>
              </a:defRPr>
            </a:pPr>
            <a:r>
              <a:t>Foundational Papers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617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AlexNet (2012) — Started the DL revolution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9469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94690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VGG (2014) — Depth matters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2760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27608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ResNet (2015) — Skip connections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6052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6052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YOLO (2015) — Real-time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9344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9344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Attention Is All You Need (2017)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6263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E0"/>
                </a:solidFill>
                <a:latin typeface="Calibri"/>
              </a:defRPr>
            </a:pPr>
            <a:r>
              <a:t>ViT (2020) — Transformers for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Next Lecture Preview — Part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960120"/>
            <a:ext cx="393192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8090AA"/>
                </a:solidFill>
                <a:latin typeface="Calibri"/>
              </a:defRPr>
            </a:pPr>
            <a:r>
              <a:t>From theory to hands-on implementation and real-world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14884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48840" cy="54864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8030"/>
                </a:solidFill>
                <a:latin typeface="Calibri"/>
              </a:defRPr>
            </a:pPr>
            <a:r>
              <a:t>NLP with</a:t>
            </a:r>
            <a:br/>
            <a:r>
              <a:t>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Tokenization, word embeddings,</a:t>
            </a:r>
            <a:br/>
            <a:r>
              <a:t>sentiment analysis with LSTM,</a:t>
            </a:r>
            <a:br/>
            <a:r>
              <a:t>fine-tuning BERT via Hugging 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214884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737360"/>
            <a:ext cx="21488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9CF0"/>
                </a:solidFill>
                <a:latin typeface="Calibri"/>
              </a:defRPr>
            </a:pPr>
            <a:r>
              <a:t>Transfer Learning</a:t>
            </a:r>
            <a:br/>
            <a:r>
              <a:t>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65176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Build a custom classifier on</a:t>
            </a:r>
            <a:br/>
            <a:r>
              <a:t>your own dataset, compare</a:t>
            </a:r>
            <a:br/>
            <a:r>
              <a:t>feature extraction vs fine-tuning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737360"/>
            <a:ext cx="214884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2148840" cy="54864"/>
          </a:xfrm>
          <a:prstGeom prst="rect">
            <a:avLst/>
          </a:prstGeom>
          <a:solidFill>
            <a:srgbClr val="4EC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80"/>
                </a:solidFill>
                <a:latin typeface="Calibri"/>
              </a:defRPr>
            </a:pPr>
            <a:r>
              <a:t>Generative Models:</a:t>
            </a:r>
            <a:br/>
            <a:r>
              <a:t>GANs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5176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Generator vs discriminator,</a:t>
            </a:r>
            <a:br/>
            <a:r>
              <a:t>build a GAN for MNIST,</a:t>
            </a:r>
            <a:br/>
            <a:r>
              <a:t>autoencoders for reconstruction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1737360"/>
            <a:ext cx="214884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59" y="1737360"/>
            <a:ext cx="2148840" cy="54864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5D5D"/>
                </a:solidFill>
                <a:latin typeface="Calibri"/>
              </a:defRPr>
            </a:pPr>
            <a:r>
              <a:t>Custom Object</a:t>
            </a:r>
            <a:br/>
            <a: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65176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Annotate your own data,</a:t>
            </a:r>
            <a:br/>
            <a:r>
              <a:t>train YOLOv8 on custom objects,</a:t>
            </a:r>
            <a:br/>
            <a:r>
              <a:t>real-time webcam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737360"/>
            <a:ext cx="214884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1737360"/>
            <a:ext cx="2148840" cy="54864"/>
          </a:xfrm>
          <a:prstGeom prst="rect">
            <a:avLst/>
          </a:prstGeom>
          <a:solidFill>
            <a:srgbClr val="A06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6CD5"/>
                </a:solidFill>
                <a:latin typeface="Calibri"/>
              </a:defRPr>
            </a:pPr>
            <a:r>
              <a:t>Model Deployment</a:t>
            </a:r>
            <a:br/>
            <a:r>
              <a:t>&amp;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65176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E0"/>
                </a:solidFill>
                <a:latin typeface="Calibri"/>
              </a:defRPr>
            </a:pPr>
            <a:r>
              <a:t>Flask/FastAPI REST APIs,</a:t>
            </a:r>
            <a:br/>
            <a:r>
              <a:t>TF Lite for edge devices,</a:t>
            </a:r>
            <a:br/>
            <a:r>
              <a:t>MLOps: versioning &amp;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69848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030"/>
                </a:solidFill>
                <a:latin typeface="Calibri"/>
              </a:defRPr>
            </a:pPr>
            <a:r>
              <a:t>Before Next Lecture — Homework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Submit to at least one Kaggle competition (MNIST, Fashion MNIST, or CIFAR-10)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155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1558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Experiment with transfer learning — load ResNet50 or VGG16 for CIFAR-10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447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1447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Read one foundational paper — the ResNet paper is surprisingly readable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473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8030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E0"/>
                </a:solidFill>
                <a:latin typeface="Calibri"/>
              </a:defRPr>
            </a:pPr>
            <a:r>
              <a:t>Explore Hugging Face (huggingface.co) — browse models, try a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